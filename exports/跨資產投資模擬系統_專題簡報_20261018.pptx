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0dfea851f34df7" /><Relationship Type="http://schemas.openxmlformats.org/officeDocument/2006/relationships/extended-properties" Target="/docProps/app.xml" Id="R7db051715d6b4e5d" /><Relationship Type="http://schemas.openxmlformats.org/officeDocument/2006/relationships/officeDocument" Target="/ppt/presentation.xml" Id="R6b652967cbe940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8eb8e1236f405f"/>
  </p:sldMasterIdLst>
  <p:notesMasterIdLst>
    <p:notesMasterId xmlns:r="http://schemas.openxmlformats.org/officeDocument/2006/relationships" r:id="R59146439a82a4057"/>
  </p:notesMasterIdLst>
  <p:sldIdLst>
    <p:sldId xmlns:r="http://schemas.openxmlformats.org/officeDocument/2006/relationships" id="256" r:id="R3f5d91e97e1e4b9e"/>
    <p:sldId xmlns:r="http://schemas.openxmlformats.org/officeDocument/2006/relationships" id="257" r:id="R89dde56781e84b89"/>
    <p:sldId xmlns:r="http://schemas.openxmlformats.org/officeDocument/2006/relationships" id="258" r:id="R67920bba00e14211"/>
    <p:sldId xmlns:r="http://schemas.openxmlformats.org/officeDocument/2006/relationships" id="259" r:id="Rb63258cf87af4887"/>
    <p:sldId xmlns:r="http://schemas.openxmlformats.org/officeDocument/2006/relationships" id="260" r:id="R6bcce2d4b45e457d"/>
    <p:sldId xmlns:r="http://schemas.openxmlformats.org/officeDocument/2006/relationships" id="261" r:id="R16b2157b18e94b7b"/>
    <p:sldId xmlns:r="http://schemas.openxmlformats.org/officeDocument/2006/relationships" id="262" r:id="R9562b7a8bb0a4cbd"/>
    <p:sldId xmlns:r="http://schemas.openxmlformats.org/officeDocument/2006/relationships" id="263" r:id="Rd53b697349b047c7"/>
    <p:sldId xmlns:r="http://schemas.openxmlformats.org/officeDocument/2006/relationships" id="264" r:id="R2a32c360846347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75a846ea84a49" /><Relationship Type="http://schemas.openxmlformats.org/officeDocument/2006/relationships/slideMaster" Target="/ppt/slideMasters/slideMaster1.xml" Id="Rd48eb8e1236f405f" /><Relationship Type="http://schemas.openxmlformats.org/officeDocument/2006/relationships/notesMaster" Target="/ppt/notesMasters/notesMaster1.xml" Id="R59146439a82a4057" /><Relationship Type="http://schemas.openxmlformats.org/officeDocument/2006/relationships/presProps" Target="/ppt/presProps.xml" Id="R585041241ca84e26" /><Relationship Type="http://schemas.openxmlformats.org/officeDocument/2006/relationships/tableStyles" Target="/ppt/tableStyles.xml" Id="R93f04ff95d95483d" /><Relationship Type="http://schemas.openxmlformats.org/officeDocument/2006/relationships/slide" Target="/ppt/slides/slide1.xml" Id="R3f5d91e97e1e4b9e" /><Relationship Type="http://schemas.openxmlformats.org/officeDocument/2006/relationships/slide" Target="/ppt/slides/slide2.xml" Id="R89dde56781e84b89" /><Relationship Type="http://schemas.openxmlformats.org/officeDocument/2006/relationships/slide" Target="/ppt/slides/slide3.xml" Id="R67920bba00e14211" /><Relationship Type="http://schemas.openxmlformats.org/officeDocument/2006/relationships/slide" Target="/ppt/slides/slide4.xml" Id="Rb63258cf87af4887" /><Relationship Type="http://schemas.openxmlformats.org/officeDocument/2006/relationships/slide" Target="/ppt/slides/slide5.xml" Id="R6bcce2d4b45e457d" /><Relationship Type="http://schemas.openxmlformats.org/officeDocument/2006/relationships/slide" Target="/ppt/slides/slide6.xml" Id="R16b2157b18e94b7b" /><Relationship Type="http://schemas.openxmlformats.org/officeDocument/2006/relationships/slide" Target="/ppt/slides/slide7.xml" Id="R9562b7a8bb0a4cbd" /><Relationship Type="http://schemas.openxmlformats.org/officeDocument/2006/relationships/slide" Target="/ppt/slides/slide8.xml" Id="Rd53b697349b047c7" /><Relationship Type="http://schemas.openxmlformats.org/officeDocument/2006/relationships/slide" Target="/ppt/slides/slide9.xml" Id="R2a32c3608463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061af26bda40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86c974f17444c" /><Relationship Type="http://schemas.openxmlformats.org/officeDocument/2006/relationships/notesMaster" Target="/ppt/notesMasters/notesMaster1.xml" Id="Rc5a18f0cf15f45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1b4a5d6e3e4ad0" /><Relationship Type="http://schemas.openxmlformats.org/officeDocument/2006/relationships/notesMaster" Target="/ppt/notesMasters/notesMaster1.xml" Id="R6bd09ecfd5964a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4907ea370e43f2" /><Relationship Type="http://schemas.openxmlformats.org/officeDocument/2006/relationships/notesMaster" Target="/ppt/notesMasters/notesMaster1.xml" Id="Rb173449389c846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396b639e9b447c" /><Relationship Type="http://schemas.openxmlformats.org/officeDocument/2006/relationships/notesMaster" Target="/ppt/notesMasters/notesMaster1.xml" Id="R4fdc0bdaede74d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69ce6464da4cd3" /><Relationship Type="http://schemas.openxmlformats.org/officeDocument/2006/relationships/notesMaster" Target="/ppt/notesMasters/notesMaster1.xml" Id="Rce83285f993149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8b6e486e7c4e10" /><Relationship Type="http://schemas.openxmlformats.org/officeDocument/2006/relationships/notesMaster" Target="/ppt/notesMasters/notesMaster1.xml" Id="R393088d00ce54d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1e1e860b1c43a8" /><Relationship Type="http://schemas.openxmlformats.org/officeDocument/2006/relationships/notesMaster" Target="/ppt/notesMasters/notesMaster1.xml" Id="Rf886faad49b245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45771726bb4f71" /><Relationship Type="http://schemas.openxmlformats.org/officeDocument/2006/relationships/notesMaster" Target="/ppt/notesMasters/notesMaster1.xml" Id="Rf714b9ed6adf47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8f762de5b049c7" /><Relationship Type="http://schemas.openxmlformats.org/officeDocument/2006/relationships/notesMaster" Target="/ppt/notesMasters/notesMaster1.xml" Id="Rb3be7b62d4c246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資料來源：專案 README.md、app.py、model.py。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封面只交代主題與比較標的；簡報接著說明資料、回測與模型評估方法。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資料來源：專案 README.md、app.py。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四個標的是專題代表性標的。使用者可以改變預算、回測年數、投入方式和預測期間。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資料來源：app.py 的 get_market_data()；README.md。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資產價格維持各自有效觀測日。匯率只在資產交易日向前對齊，以免休市日價格被誤當成新報價。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資料來源：app.py 的 backtest()、investment_cash_flows()。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兩種方法使用同一筆總預算，便於比較投入時點差異。圖中公式省略價格資料日索引等實作細節。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資料來源：app.py 的 money_weighted_annual_return()、backtest()。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波動按有效觀測日報酬年化。最大回撤使用累積報酬指數，而不是含現金流的定期定額帳戶價值。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資料來源：model.py 的 build_features()、_make_supervised()、_new_model()、_new_ridge_model()。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特徵只使用價格資訊，沒有加入成交量、總體經濟資料或基本面。預測期 H 由介面選擇。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資料來源：model.py 的 forecast_return()。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最終測試資料不參與選模。測試誤差以對數報酬為單位，H 期報酬標籤每日起點可能重疊，故誤差具有時間相依性。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資料來源：model.py 的 forecast_return()；app.py 的模型估算區塊。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上下情境依測試期實際對數報酬轉換而來。中央預測和歷史情境的資料來源不同，解讀時要分開看。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資料來源：專案 README.md、app.py、model.py。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目前不計手續費、稅負、滑價、配息稅務或匯兌成本。專題以方法比較和互動展示為目的，未證明模型能持續優於簡單基準。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112d2a7b448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fcb1cbab84b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9fdd8cdd542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9d281cbe946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00d97060540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ef93759e547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A84BB3-898D-48BC-863A-9FA4FA15A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159E90-4434-43A8-AE67-C1724A579F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EDA312-DF5B-4A48-916D-31AED6703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DCAD75-A573-401C-8D2A-A7F255979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12F1F9-27D1-44E6-AFEC-CF89FABEE6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0D4AFC-830B-4CE1-A267-E813D81A55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B840F3-4D0E-4BC0-87D2-CECDF49ED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24DF40-5702-46B9-A28B-B10EB9FA18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ACDEF9-9182-4BB3-B9BE-DD0DA6C977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B02548-E6BB-4E42-8F9D-683BEFBFBB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31828fd21b440d" /><Relationship Type="http://schemas.openxmlformats.org/officeDocument/2006/relationships/slideLayout" Target="/ppt/slideLayouts/slideLayout1.xml" Id="R307c6bcefaef4dd1" /><Relationship Type="http://schemas.openxmlformats.org/officeDocument/2006/relationships/slideLayout" Target="/ppt/slideLayouts/slideLayout2.xml" Id="R5ba193cde83647c9" /><Relationship Type="http://schemas.openxmlformats.org/officeDocument/2006/relationships/slideLayout" Target="/ppt/slideLayouts/slideLayout3.xml" Id="Ra2df5e24a82d47ff" /><Relationship Type="http://schemas.openxmlformats.org/officeDocument/2006/relationships/slideLayout" Target="/ppt/slideLayouts/slideLayout4.xml" Id="Rb8949cd2ce5f46ae" /><Relationship Type="http://schemas.openxmlformats.org/officeDocument/2006/relationships/slideLayout" Target="/ppt/slideLayouts/slideLayout5.xml" Id="Rf134db4b22584036" /><Relationship Type="http://schemas.openxmlformats.org/officeDocument/2006/relationships/slideLayout" Target="/ppt/slideLayouts/slideLayout6.xml" Id="R55fadc6a20aa44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7c6bcefaef4dd1"/>
    <p:sldLayoutId xmlns:r="http://schemas.openxmlformats.org/officeDocument/2006/relationships" id="2147483650" r:id="R5ba193cde83647c9"/>
    <p:sldLayoutId xmlns:r="http://schemas.openxmlformats.org/officeDocument/2006/relationships" id="2147483651" r:id="Ra2df5e24a82d47ff"/>
    <p:sldLayoutId xmlns:r="http://schemas.openxmlformats.org/officeDocument/2006/relationships" id="2147483652" r:id="Rb8949cd2ce5f46ae"/>
    <p:sldLayoutId xmlns:r="http://schemas.openxmlformats.org/officeDocument/2006/relationships" id="2147483653" r:id="Rf134db4b22584036"/>
    <p:sldLayoutId xmlns:r="http://schemas.openxmlformats.org/officeDocument/2006/relationships" id="2147483654" r:id="R55fadc6a20aa44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b9bde98e7422f" /><Relationship Type="http://schemas.openxmlformats.org/officeDocument/2006/relationships/notesSlide" Target="/ppt/notesSlides/notesSlide1.xml" Id="Re80e402c80e5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07f09e4e543e9" /><Relationship Type="http://schemas.openxmlformats.org/officeDocument/2006/relationships/notesSlide" Target="/ppt/notesSlides/notesSlide2.xml" Id="R85d51a9e08a341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9777c70f904938" /><Relationship Type="http://schemas.openxmlformats.org/officeDocument/2006/relationships/notesSlide" Target="/ppt/notesSlides/notesSlide3.xml" Id="Rd59d454fb0d444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7d9da5a6d461d" /><Relationship Type="http://schemas.openxmlformats.org/officeDocument/2006/relationships/notesSlide" Target="/ppt/notesSlides/notesSlide4.xml" Id="Rb6d0d911dd184f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eba51068d4558" /><Relationship Type="http://schemas.openxmlformats.org/officeDocument/2006/relationships/notesSlide" Target="/ppt/notesSlides/notesSlide5.xml" Id="R1e3f74730ef140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3a3acdbb14ee2" /><Relationship Type="http://schemas.openxmlformats.org/officeDocument/2006/relationships/notesSlide" Target="/ppt/notesSlides/notesSlide6.xml" Id="Reefc436cdce640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e445dce4a4934" /><Relationship Type="http://schemas.openxmlformats.org/officeDocument/2006/relationships/notesSlide" Target="/ppt/notesSlides/notesSlide7.xml" Id="R6c440c0687ac4f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28f3eec104396" /><Relationship Type="http://schemas.openxmlformats.org/officeDocument/2006/relationships/notesSlide" Target="/ppt/notesSlides/notesSlide8.xml" Id="Rc3cb19951cf940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f562e811c41c0" /><Relationship Type="http://schemas.openxmlformats.org/officeDocument/2006/relationships/notesSlide" Target="/ppt/notesSlides/notesSlide9.xml" Id="R57811193b77947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5D87362-4B0E-49F6-8406-FEDAA6EE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4BE63F8-2208-48D3-8F3D-F4459776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A8DCD4"/>
                </a:solidFill>
                <a:latin typeface="Microsoft JhengHei"/>
                <a:ea typeface="Microsoft JhengHei"/>
                <a:cs typeface="Microsoft JhengHei"/>
              </a:rPr>
              <a:t>跨資產比較專題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5DD196-9D8E-4BBE-9267-2AF3336B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7637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跨資產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投資模擬器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37F05CB-91BF-40F4-AA43-AC369354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09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rPr>
              <a:t>歷史回測、風險衡量與模型情境</a:t>
            </a:r>
          </a:p>
        </p:txBody>
      </p:sp>
      <p:sp>
        <p:nvSpPr>
          <p:cNvPr id="5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21B7235F-F7CC-429E-A133-FCED1671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606C"/>
            </a:solidFill>
            <a:prstDash val="solid"/>
          </a:ln>
        </p:spPr>
      </p:sp>
      <p:sp>
        <p:nvSpPr>
          <p:cNvPr id="6" name="cover-assets">
            <a:extLst xmlns:a="http://schemas.openxmlformats.org/drawingml/2006/main">
              <a:ext uri="{FF2B5EF4-FFF2-40B4-BE49-F238E27FC236}">
                <a16:creationId xmlns:a16="http://schemas.microsoft.com/office/drawing/2014/main" id="{6664B2B9-F839-45BE-AD31-7B925B33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9E6E8"/>
                </a:solidFill>
                <a:latin typeface="Microsoft JhengHei"/>
                <a:ea typeface="Microsoft JhengHei"/>
                <a:cs typeface="Microsoft JhengHei"/>
              </a:rPr>
              <a:t>0050.TW     SPY     BTC-USD     GLD</a:t>
            </a:r>
          </a:p>
        </p:txBody>
      </p:sp>
      <p:sp>
        <p:nvSpPr>
          <p:cNvPr id="7" name="cover-unit">
            <a:extLst xmlns:a="http://schemas.openxmlformats.org/drawingml/2006/main">
              <a:ext uri="{FF2B5EF4-FFF2-40B4-BE49-F238E27FC236}">
                <a16:creationId xmlns:a16="http://schemas.microsoft.com/office/drawing/2014/main" id="{A8F83226-970F-469A-9804-7F240CF9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rPr>
              <a:t>所有比較以新台幣計價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916DF5B7-2E1D-49C2-BC36-88BE159A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76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ABCC2"/>
                </a:solidFill>
                <a:latin typeface="Microsoft JhengHei"/>
                <a:ea typeface="Microsoft JhengHei"/>
                <a:cs typeface="Microsoft Jheng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414664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0931FF-FF38-46B8-9E8D-885A005E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專題比較投入方式與單一資產的歷史結果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BAC8891-B0BE-4BED-8458-A9A00A2A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8A093D-7F70-4CFD-AEB2-FA6D24E5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02 / 09</a:t>
            </a:r>
          </a:p>
        </p:txBody>
      </p:sp>
      <p:sp>
        <p:nvSpPr>
          <p:cNvPr id="4" name="question-one">
            <a:extLst xmlns:a="http://schemas.openxmlformats.org/drawingml/2006/main">
              <a:ext uri="{FF2B5EF4-FFF2-40B4-BE49-F238E27FC236}">
                <a16:creationId xmlns:a16="http://schemas.microsoft.com/office/drawing/2014/main" id="{9482C735-8247-47D0-81BA-E323030C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C9A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question-one-copy">
            <a:extLst xmlns:a="http://schemas.openxmlformats.org/drawingml/2006/main">
              <a:ext uri="{FF2B5EF4-FFF2-40B4-BE49-F238E27FC236}">
                <a16:creationId xmlns:a16="http://schemas.microsoft.com/office/drawing/2014/main" id="{B182376C-E20A-4E61-A57F-E9D98CD5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相同總預算下，</a:t>
            </a:r>
          </a:p>
          <a:p xmlns:a="http://schemas.openxmlformats.org/drawingml/2006/main">
            <a:pPr algn="l">
              <a:def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一次投入與定期定額有何差異？</a:t>
            </a:r>
          </a:p>
        </p:txBody>
      </p:sp>
      <p:sp>
        <p:nvSpPr>
          <p:cNvPr id="6" name="question-separator">
            <a:extLst xmlns:a="http://schemas.openxmlformats.org/drawingml/2006/main">
              <a:ext uri="{FF2B5EF4-FFF2-40B4-BE49-F238E27FC236}">
                <a16:creationId xmlns:a16="http://schemas.microsoft.com/office/drawing/2014/main" id="{95AFD7A1-5FAB-4EDA-B54A-F2B2267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668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7" name="question-two">
            <a:extLst xmlns:a="http://schemas.openxmlformats.org/drawingml/2006/main">
              <a:ext uri="{FF2B5EF4-FFF2-40B4-BE49-F238E27FC236}">
                <a16:creationId xmlns:a16="http://schemas.microsoft.com/office/drawing/2014/main" id="{99896155-8D2D-4DED-9193-E45E8D15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E1A82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question-two-copy">
            <a:extLst xmlns:a="http://schemas.openxmlformats.org/drawingml/2006/main">
              <a:ext uri="{FF2B5EF4-FFF2-40B4-BE49-F238E27FC236}">
                <a16:creationId xmlns:a16="http://schemas.microsoft.com/office/drawing/2014/main" id="{53249AD2-0313-43E6-B4E8-4CAB95B2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69545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報酬、波動與模型誤差</a:t>
            </a:r>
          </a:p>
          <a:p xmlns:a="http://schemas.openxmlformats.org/drawingml/2006/main">
            <a: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如何一起解讀？</a:t>
            </a:r>
          </a:p>
        </p:txBody>
      </p:sp>
      <p:sp>
        <p:nvSpPr>
          <p:cNvPr id="9" name="assets-label">
            <a:extLst xmlns:a="http://schemas.openxmlformats.org/drawingml/2006/main">
              <a:ext uri="{FF2B5EF4-FFF2-40B4-BE49-F238E27FC236}">
                <a16:creationId xmlns:a16="http://schemas.microsoft.com/office/drawing/2014/main" id="{E066494A-C9A2-415B-85FE-7625AD62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比較標的</a:t>
            </a:r>
          </a:p>
        </p:txBody>
      </p:sp>
      <p:sp>
        <p:nvSpPr>
          <p:cNvPr id="10" name="asset-0-ticker">
            <a:extLst xmlns:a="http://schemas.openxmlformats.org/drawingml/2006/main">
              <a:ext uri="{FF2B5EF4-FFF2-40B4-BE49-F238E27FC236}">
                <a16:creationId xmlns:a16="http://schemas.microsoft.com/office/drawing/2014/main" id="{2E80277E-DA81-4CDF-887D-A50DCFD5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0050.TW</a:t>
            </a:r>
          </a:p>
        </p:txBody>
      </p:sp>
      <p:sp>
        <p:nvSpPr>
          <p:cNvPr id="11" name="asset-0-label">
            <a:extLst xmlns:a="http://schemas.openxmlformats.org/drawingml/2006/main">
              <a:ext uri="{FF2B5EF4-FFF2-40B4-BE49-F238E27FC236}">
                <a16:creationId xmlns:a16="http://schemas.microsoft.com/office/drawing/2014/main" id="{172C6AB3-6A49-48F7-BA06-226BAC41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台灣大型股 ETF</a:t>
            </a:r>
          </a:p>
        </p:txBody>
      </p:sp>
      <p:sp>
        <p:nvSpPr>
          <p:cNvPr id="12" name="asset-1-ticker">
            <a:extLst xmlns:a="http://schemas.openxmlformats.org/drawingml/2006/main">
              <a:ext uri="{FF2B5EF4-FFF2-40B4-BE49-F238E27FC236}">
                <a16:creationId xmlns:a16="http://schemas.microsoft.com/office/drawing/2014/main" id="{84EA5BFB-6487-49EE-9292-75BD498B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52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SPY</a:t>
            </a:r>
          </a:p>
        </p:txBody>
      </p:sp>
      <p:sp>
        <p:nvSpPr>
          <p:cNvPr id="13" name="asset-1-label">
            <a:extLst xmlns:a="http://schemas.openxmlformats.org/drawingml/2006/main">
              <a:ext uri="{FF2B5EF4-FFF2-40B4-BE49-F238E27FC236}">
                <a16:creationId xmlns:a16="http://schemas.microsoft.com/office/drawing/2014/main" id="{D84723E1-B4A8-4FD2-BA57-C6B014EC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100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美國大型股 ETF</a:t>
            </a:r>
          </a:p>
        </p:txBody>
      </p:sp>
      <p:sp>
        <p:nvSpPr>
          <p:cNvPr id="14" name="asset-2-ticker">
            <a:extLst xmlns:a="http://schemas.openxmlformats.org/drawingml/2006/main">
              <a:ext uri="{FF2B5EF4-FFF2-40B4-BE49-F238E27FC236}">
                <a16:creationId xmlns:a16="http://schemas.microsoft.com/office/drawing/2014/main" id="{8D863D9A-5F44-4AA6-899E-33C10CC5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52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BTC-USD</a:t>
            </a:r>
          </a:p>
        </p:txBody>
      </p:sp>
      <p:sp>
        <p:nvSpPr>
          <p:cNvPr id="15" name="asset-2-label">
            <a:extLst xmlns:a="http://schemas.openxmlformats.org/drawingml/2006/main">
              <a:ext uri="{FF2B5EF4-FFF2-40B4-BE49-F238E27FC236}">
                <a16:creationId xmlns:a16="http://schemas.microsoft.com/office/drawing/2014/main" id="{46FA32D5-40F5-4D8B-8AAF-7D07F55B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00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比特幣</a:t>
            </a:r>
          </a:p>
        </p:txBody>
      </p:sp>
      <p:sp>
        <p:nvSpPr>
          <p:cNvPr id="16" name="asset-3-ticker">
            <a:extLst xmlns:a="http://schemas.openxmlformats.org/drawingml/2006/main">
              <a:ext uri="{FF2B5EF4-FFF2-40B4-BE49-F238E27FC236}">
                <a16:creationId xmlns:a16="http://schemas.microsoft.com/office/drawing/2014/main" id="{0B4B8301-57AF-4A79-8F7C-2B552D82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52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GLD</a:t>
            </a:r>
          </a:p>
        </p:txBody>
      </p:sp>
      <p:sp>
        <p:nvSpPr>
          <p:cNvPr id="17" name="asset-3-label">
            <a:extLst xmlns:a="http://schemas.openxmlformats.org/drawingml/2006/main">
              <a:ext uri="{FF2B5EF4-FFF2-40B4-BE49-F238E27FC236}">
                <a16:creationId xmlns:a16="http://schemas.microsoft.com/office/drawing/2014/main" id="{55CAE7F3-1815-4C4D-A185-E6396024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100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黃金 ETF</a:t>
            </a:r>
          </a:p>
        </p:txBody>
      </p:sp>
      <p:sp>
        <p:nvSpPr>
          <p:cNvPr id="18" name="scope-rule">
            <a:extLst xmlns:a="http://schemas.openxmlformats.org/drawingml/2006/main">
              <a:ext uri="{FF2B5EF4-FFF2-40B4-BE49-F238E27FC236}">
                <a16:creationId xmlns:a16="http://schemas.microsoft.com/office/drawing/2014/main" id="{A8A25ED2-054B-40A4-B701-C159DA79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19" name="scope-caveat">
            <a:extLst xmlns:a="http://schemas.openxmlformats.org/drawingml/2006/main">
              <a:ext uri="{FF2B5EF4-FFF2-40B4-BE49-F238E27FC236}">
                <a16:creationId xmlns:a16="http://schemas.microsoft.com/office/drawing/2014/main" id="{342D6F45-64BE-474E-A205-9201A925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每個標的都各自使用全部預算；這是平行比較，不是混合資產的投資組合。</a:t>
            </a:r>
          </a:p>
        </p:txBody>
      </p:sp>
    </p:spTree>
    <p:extLst>
      <p:ext uri="{BB962C8B-B14F-4D97-AF65-F5344CB8AC3E}">
        <p14:creationId xmlns:p14="http://schemas.microsoft.com/office/powerpoint/2010/main" val="774323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D41BF0-3F5A-44A2-8A3F-9C34D40E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不同市場日期先轉成同一計價單位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5A1A6F0-AFD1-4AEC-AB93-34F0D3B4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F9D627-A9E6-40D3-93F9-BE303CE6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03 / 09</a:t>
            </a:r>
          </a:p>
        </p:txBody>
      </p:sp>
      <p:sp>
        <p:nvSpPr>
          <p:cNvPr id="4" name="data-step-0">
            <a:extLst xmlns:a="http://schemas.openxmlformats.org/drawingml/2006/main">
              <a:ext uri="{FF2B5EF4-FFF2-40B4-BE49-F238E27FC236}">
                <a16:creationId xmlns:a16="http://schemas.microsoft.com/office/drawing/2014/main" id="{060245EF-0E81-4EEB-8ED9-FD914D56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43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5" name="data-step-0-number">
            <a:extLst xmlns:a="http://schemas.openxmlformats.org/drawingml/2006/main">
              <a:ext uri="{FF2B5EF4-FFF2-40B4-BE49-F238E27FC236}">
                <a16:creationId xmlns:a16="http://schemas.microsoft.com/office/drawing/2014/main" id="{85C32BFC-3CC7-4856-8F44-3FB67AF3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data-step-0-title">
            <a:extLst xmlns:a="http://schemas.openxmlformats.org/drawingml/2006/main">
              <a:ext uri="{FF2B5EF4-FFF2-40B4-BE49-F238E27FC236}">
                <a16:creationId xmlns:a16="http://schemas.microsoft.com/office/drawing/2014/main" id="{CB570BE2-D415-49AD-A474-4A80A086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下載價格</a:t>
            </a:r>
          </a:p>
        </p:txBody>
      </p:sp>
      <p:sp>
        <p:nvSpPr>
          <p:cNvPr id="7" name="data-step-0-body">
            <a:extLst xmlns:a="http://schemas.openxmlformats.org/drawingml/2006/main">
              <a:ext uri="{FF2B5EF4-FFF2-40B4-BE49-F238E27FC236}">
                <a16:creationId xmlns:a16="http://schemas.microsoft.com/office/drawing/2014/main" id="{708FF788-AD26-4713-B830-3A1FA34B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Yahoo Finance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調整後收盤價</a:t>
            </a:r>
          </a:p>
        </p:txBody>
      </p:sp>
      <p:sp>
        <p:nvSpPr>
          <p:cNvPr id="8" name="data-arrow-0">
            <a:extLst xmlns:a="http://schemas.openxmlformats.org/drawingml/2006/main">
              <a:ext uri="{FF2B5EF4-FFF2-40B4-BE49-F238E27FC236}">
                <a16:creationId xmlns:a16="http://schemas.microsoft.com/office/drawing/2014/main" id="{B47DA569-9D72-4772-9854-55271B95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data-step-1">
            <a:extLst xmlns:a="http://schemas.openxmlformats.org/drawingml/2006/main">
              <a:ext uri="{FF2B5EF4-FFF2-40B4-BE49-F238E27FC236}">
                <a16:creationId xmlns:a16="http://schemas.microsoft.com/office/drawing/2014/main" id="{4AB7E5D5-5499-4376-A284-8577B336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343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6EED8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10" name="data-step-1-number">
            <a:extLst xmlns:a="http://schemas.openxmlformats.org/drawingml/2006/main">
              <a:ext uri="{FF2B5EF4-FFF2-40B4-BE49-F238E27FC236}">
                <a16:creationId xmlns:a16="http://schemas.microsoft.com/office/drawing/2014/main" id="{5ACBF7E8-6106-4D17-8C4A-D86B09BC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955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data-step-1-title">
            <a:extLst xmlns:a="http://schemas.openxmlformats.org/drawingml/2006/main">
              <a:ext uri="{FF2B5EF4-FFF2-40B4-BE49-F238E27FC236}">
                <a16:creationId xmlns:a16="http://schemas.microsoft.com/office/drawing/2014/main" id="{0645072C-8FFC-42D5-A1CB-8B678738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對齊匯率</a:t>
            </a:r>
          </a:p>
        </p:txBody>
      </p:sp>
      <p:sp>
        <p:nvSpPr>
          <p:cNvPr id="12" name="data-step-1-body">
            <a:extLst xmlns:a="http://schemas.openxmlformats.org/drawingml/2006/main">
              <a:ext uri="{FF2B5EF4-FFF2-40B4-BE49-F238E27FC236}">
                <a16:creationId xmlns:a16="http://schemas.microsoft.com/office/drawing/2014/main" id="{55321610-8B7C-46A2-9EA7-ECF36B69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66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USD/TWD 匯率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依資產交易日換算</a:t>
            </a:r>
          </a:p>
        </p:txBody>
      </p:sp>
      <p:sp>
        <p:nvSpPr>
          <p:cNvPr id="13" name="data-arrow-1">
            <a:extLst xmlns:a="http://schemas.openxmlformats.org/drawingml/2006/main">
              <a:ext uri="{FF2B5EF4-FFF2-40B4-BE49-F238E27FC236}">
                <a16:creationId xmlns:a16="http://schemas.microsoft.com/office/drawing/2014/main" id="{4BC2AA70-343C-4E4A-A1B8-69131DA1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813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data-step-2">
            <a:extLst xmlns:a="http://schemas.openxmlformats.org/drawingml/2006/main">
              <a:ext uri="{FF2B5EF4-FFF2-40B4-BE49-F238E27FC236}">
                <a16:creationId xmlns:a16="http://schemas.microsoft.com/office/drawing/2014/main" id="{3BDAA9A9-36C9-4435-9789-44BB1691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343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4F1ED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15" name="data-step-2-number">
            <a:extLst xmlns:a="http://schemas.openxmlformats.org/drawingml/2006/main">
              <a:ext uri="{FF2B5EF4-FFF2-40B4-BE49-F238E27FC236}">
                <a16:creationId xmlns:a16="http://schemas.microsoft.com/office/drawing/2014/main" id="{AA87C7DE-7842-488F-B2D5-2321398D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data-step-2-title">
            <a:extLst xmlns:a="http://schemas.openxmlformats.org/drawingml/2006/main">
              <a:ext uri="{FF2B5EF4-FFF2-40B4-BE49-F238E27FC236}">
                <a16:creationId xmlns:a16="http://schemas.microsoft.com/office/drawing/2014/main" id="{AEE51A81-8517-4234-A123-D283C94A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保留日曆</a:t>
            </a:r>
          </a:p>
        </p:txBody>
      </p:sp>
      <p:sp>
        <p:nvSpPr>
          <p:cNvPr id="17" name="data-step-2-body">
            <a:extLst xmlns:a="http://schemas.openxmlformats.org/drawingml/2006/main">
              <a:ext uri="{FF2B5EF4-FFF2-40B4-BE49-F238E27FC236}">
                <a16:creationId xmlns:a16="http://schemas.microsoft.com/office/drawing/2014/main" id="{DF8F8315-F04A-4643-8D34-1C323AC4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不補週末價格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避免虛增零報酬</a:t>
            </a:r>
          </a:p>
        </p:txBody>
      </p:sp>
      <p:sp>
        <p:nvSpPr>
          <p:cNvPr id="18" name="data-arrow-2">
            <a:extLst xmlns:a="http://schemas.openxmlformats.org/drawingml/2006/main">
              <a:ext uri="{FF2B5EF4-FFF2-40B4-BE49-F238E27FC236}">
                <a16:creationId xmlns:a16="http://schemas.microsoft.com/office/drawing/2014/main" id="{AD99AD93-16D7-4C44-8B98-5750BB8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9" name="data-step-3">
            <a:extLst xmlns:a="http://schemas.openxmlformats.org/drawingml/2006/main">
              <a:ext uri="{FF2B5EF4-FFF2-40B4-BE49-F238E27FC236}">
                <a16:creationId xmlns:a16="http://schemas.microsoft.com/office/drawing/2014/main" id="{8AB75AE3-966D-4DDC-8AD2-7DB0503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343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20" name="data-step-3-number">
            <a:extLst xmlns:a="http://schemas.openxmlformats.org/drawingml/2006/main">
              <a:ext uri="{FF2B5EF4-FFF2-40B4-BE49-F238E27FC236}">
                <a16:creationId xmlns:a16="http://schemas.microsoft.com/office/drawing/2014/main" id="{FB778BB3-9AC9-4AA4-ACBD-F446A046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955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1" name="data-step-3-title">
            <a:extLst xmlns:a="http://schemas.openxmlformats.org/drawingml/2006/main">
              <a:ext uri="{FF2B5EF4-FFF2-40B4-BE49-F238E27FC236}">
                <a16:creationId xmlns:a16="http://schemas.microsoft.com/office/drawing/2014/main" id="{59E0716A-328D-4F22-A531-E3734C1B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建立序列</a:t>
            </a:r>
          </a:p>
        </p:txBody>
      </p:sp>
      <p:sp>
        <p:nvSpPr>
          <p:cNvPr id="22" name="data-step-3-body">
            <a:extLst xmlns:a="http://schemas.openxmlformats.org/drawingml/2006/main">
              <a:ext uri="{FF2B5EF4-FFF2-40B4-BE49-F238E27FC236}">
                <a16:creationId xmlns:a16="http://schemas.microsoft.com/office/drawing/2014/main" id="{60651365-74B6-45B8-9D48-0165FA74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766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各資產的新台幣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有效價格觀測</a:t>
            </a:r>
          </a:p>
        </p:txBody>
      </p:sp>
      <p:sp>
        <p:nvSpPr>
          <p:cNvPr id="23" name="data-note">
            <a:extLst xmlns:a="http://schemas.openxmlformats.org/drawingml/2006/main">
              <a:ext uri="{FF2B5EF4-FFF2-40B4-BE49-F238E27FC236}">
                <a16:creationId xmlns:a16="http://schemas.microsoft.com/office/drawing/2014/main" id="{8BF81045-099D-4732-9CC6-6C857833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0050 以新台幣計價；SPY、BTC 和 GLD 先按交易日匯率換算。</a:t>
            </a:r>
          </a:p>
        </p:txBody>
      </p:sp>
      <p:sp>
        <p:nvSpPr>
          <p:cNvPr id="24" name="data-limitation">
            <a:extLst xmlns:a="http://schemas.openxmlformats.org/drawingml/2006/main">
              <a:ext uri="{FF2B5EF4-FFF2-40B4-BE49-F238E27FC236}">
                <a16:creationId xmlns:a16="http://schemas.microsoft.com/office/drawing/2014/main" id="{AC82AD37-B1B7-41B0-B1D1-02C8713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匯率資料可能缺漏或修訂，海外資產換算結果會受匯率影響。</a:t>
            </a:r>
          </a:p>
        </p:txBody>
      </p:sp>
    </p:spTree>
    <p:extLst>
      <p:ext uri="{BB962C8B-B14F-4D97-AF65-F5344CB8AC3E}">
        <p14:creationId xmlns:p14="http://schemas.microsoft.com/office/powerpoint/2010/main" val="133561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B6746C-C82B-4640-94E3-E9E3BC7F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兩種投入方式使用同一筆總預算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5DB0494-5DDD-4506-8CDB-5BE33439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AF05A1-0361-4A08-8AFA-FD2E4E60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04 / 09</a:t>
            </a:r>
          </a:p>
        </p:txBody>
      </p:sp>
      <p:sp>
        <p:nvSpPr>
          <p:cNvPr id="4" name="lump-title">
            <a:extLst xmlns:a="http://schemas.openxmlformats.org/drawingml/2006/main">
              <a:ext uri="{FF2B5EF4-FFF2-40B4-BE49-F238E27FC236}">
                <a16:creationId xmlns:a16="http://schemas.microsoft.com/office/drawing/2014/main" id="{84EAD803-E95E-4DA5-993D-B9F31DF1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一次投入</a:t>
            </a:r>
          </a:p>
        </p:txBody>
      </p:sp>
      <p:sp>
        <p:nvSpPr>
          <p:cNvPr id="5" name="lump-formula">
            <a:extLst xmlns:a="http://schemas.openxmlformats.org/drawingml/2006/main">
              <a:ext uri="{FF2B5EF4-FFF2-40B4-BE49-F238E27FC236}">
                <a16:creationId xmlns:a16="http://schemas.microsoft.com/office/drawing/2014/main" id="{52E61F5C-1EDE-4AB6-B1B4-8C836181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Vₜ = P × Priceₜ / Price₀</a:t>
            </a:r>
          </a:p>
        </p:txBody>
      </p:sp>
      <p:sp>
        <p:nvSpPr>
          <p:cNvPr id="6" name="lump-detail">
            <a:extLst xmlns:a="http://schemas.openxmlformats.org/drawingml/2006/main">
              <a:ext uri="{FF2B5EF4-FFF2-40B4-BE49-F238E27FC236}">
                <a16:creationId xmlns:a16="http://schemas.microsoft.com/office/drawing/2014/main" id="{B125E16A-C941-4ED8-88C2-D8E4D37C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447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起點投入全部預算 P。</a:t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之後持有同一批單位，帳戶價值隨價格變動。</a:t>
            </a:r>
          </a:p>
        </p:txBody>
      </p:sp>
      <p:sp>
        <p:nvSpPr>
          <p:cNvPr id="7" name="investment-divider">
            <a:extLst xmlns:a="http://schemas.openxmlformats.org/drawingml/2006/main">
              <a:ext uri="{FF2B5EF4-FFF2-40B4-BE49-F238E27FC236}">
                <a16:creationId xmlns:a16="http://schemas.microsoft.com/office/drawing/2014/main" id="{47F7DB4A-3EF1-4F5B-B413-EB6A6E1D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66875"/>
            <a:ext cx="0" cy="2676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8" name="dca-title">
            <a:extLst xmlns:a="http://schemas.openxmlformats.org/drawingml/2006/main">
              <a:ext uri="{FF2B5EF4-FFF2-40B4-BE49-F238E27FC236}">
                <a16:creationId xmlns:a16="http://schemas.microsoft.com/office/drawing/2014/main" id="{3655F815-09A5-400A-8123-CA142939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定期定額</a:t>
            </a:r>
          </a:p>
        </p:txBody>
      </p:sp>
      <p:sp>
        <p:nvSpPr>
          <p:cNvPr id="9" name="dca-formula">
            <a:extLst xmlns:a="http://schemas.openxmlformats.org/drawingml/2006/main">
              <a:ext uri="{FF2B5EF4-FFF2-40B4-BE49-F238E27FC236}">
                <a16:creationId xmlns:a16="http://schemas.microsoft.com/office/drawing/2014/main" id="{9AAEFA5D-9550-4491-9118-B8AB31FC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52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Unitsₜ = Σ (P / n) ÷ Priceₖ</a:t>
            </a:r>
          </a:p>
        </p:txBody>
      </p:sp>
      <p:sp>
        <p:nvSpPr>
          <p:cNvPr id="10" name="dca-detail">
            <a:extLst xmlns:a="http://schemas.openxmlformats.org/drawingml/2006/main">
              <a:ext uri="{FF2B5EF4-FFF2-40B4-BE49-F238E27FC236}">
                <a16:creationId xmlns:a16="http://schemas.microsoft.com/office/drawing/2014/main" id="{E79CF72C-A677-403D-B12B-13695AA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1467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把總預算 P 平均分成 n 份，</a:t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投入每月第一個有效交易日。</a:t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每次買入單位數會隨價格改變。</a:t>
            </a:r>
          </a:p>
        </p:txBody>
      </p:sp>
      <p:sp>
        <p:nvSpPr>
          <p:cNvPr id="11" name="budget-note-bg">
            <a:extLst xmlns:a="http://schemas.openxmlformats.org/drawingml/2006/main">
              <a:ext uri="{FF2B5EF4-FFF2-40B4-BE49-F238E27FC236}">
                <a16:creationId xmlns:a16="http://schemas.microsoft.com/office/drawing/2014/main" id="{981FA2C8-997C-4CBC-9EBF-FA17E801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610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4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dget-note">
            <a:extLst xmlns:a="http://schemas.openxmlformats.org/drawingml/2006/main">
              <a:ext uri="{FF2B5EF4-FFF2-40B4-BE49-F238E27FC236}">
                <a16:creationId xmlns:a16="http://schemas.microsoft.com/office/drawing/2014/main" id="{3D516C21-141B-4DB4-B868-4A592C1E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149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P 代表回測期間的固定總預算。定期定額不會每月重複投入 P。</a:t>
            </a:r>
          </a:p>
        </p:txBody>
      </p:sp>
    </p:spTree>
    <p:extLst>
      <p:ext uri="{BB962C8B-B14F-4D97-AF65-F5344CB8AC3E}">
        <p14:creationId xmlns:p14="http://schemas.microsoft.com/office/powerpoint/2010/main" val="21120800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70E07C-F496-44BA-84F5-ABE8CBF4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報酬、波動和回撤回答不同問題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3D9C0D5-0F36-4B6F-8C50-54F459E2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D17D17-DAE0-4390-B54B-9C27EACC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05 / 09</a:t>
            </a:r>
          </a:p>
        </p:txBody>
      </p:sp>
      <p:sp>
        <p:nvSpPr>
          <p:cNvPr id="4" name="metric-0-label">
            <a:extLst xmlns:a="http://schemas.openxmlformats.org/drawingml/2006/main">
              <a:ext uri="{FF2B5EF4-FFF2-40B4-BE49-F238E27FC236}">
                <a16:creationId xmlns:a16="http://schemas.microsoft.com/office/drawing/2014/main" id="{3861FB0D-DE6C-4070-82D9-8335E2AD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年化報酬</a:t>
            </a:r>
          </a:p>
        </p:txBody>
      </p:sp>
      <p:sp>
        <p:nvSpPr>
          <p:cNvPr id="5" name="metric-0-tag">
            <a:extLst xmlns:a="http://schemas.openxmlformats.org/drawingml/2006/main">
              <a:ext uri="{FF2B5EF4-FFF2-40B4-BE49-F238E27FC236}">
                <a16:creationId xmlns:a16="http://schemas.microsoft.com/office/drawing/2014/main" id="{CCE2BC94-A433-4DD4-9055-94305AD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XIRR</a:t>
            </a:r>
          </a:p>
        </p:txBody>
      </p:sp>
      <p:sp>
        <p:nvSpPr>
          <p:cNvPr id="6" name="metric-0-meaning">
            <a:extLst xmlns:a="http://schemas.openxmlformats.org/drawingml/2006/main">
              <a:ext uri="{FF2B5EF4-FFF2-40B4-BE49-F238E27FC236}">
                <a16:creationId xmlns:a16="http://schemas.microsoft.com/office/drawing/2014/main" id="{EF125ACA-5ECD-4EB6-86E4-EB2109C0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335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考慮每筆投入日期與期末資產價值，衡量投資人的年化現金流報酬。</a:t>
            </a:r>
          </a:p>
        </p:txBody>
      </p:sp>
      <p:sp>
        <p:nvSpPr>
          <p:cNvPr id="7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84598E06-A275-4D6A-A373-E5D666FB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8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1B912A79-EFC4-4E87-A344-1DD259BA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rPr>
              <a:t>年化波動</a:t>
            </a:r>
          </a:p>
        </p:txBody>
      </p:sp>
      <p:sp>
        <p:nvSpPr>
          <p:cNvPr id="9" name="metric-1-tag">
            <a:extLst xmlns:a="http://schemas.openxmlformats.org/drawingml/2006/main">
              <a:ext uri="{FF2B5EF4-FFF2-40B4-BE49-F238E27FC236}">
                <a16:creationId xmlns:a16="http://schemas.microsoft.com/office/drawing/2014/main" id="{AB166D1F-FB71-471E-B02A-A0705A7F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日報酬標準差 × √年觀測數</a:t>
            </a:r>
          </a:p>
        </p:txBody>
      </p:sp>
      <p:sp>
        <p:nvSpPr>
          <p:cNvPr id="10" name="metric-1-meaning">
            <a:extLst xmlns:a="http://schemas.openxmlformats.org/drawingml/2006/main">
              <a:ext uri="{FF2B5EF4-FFF2-40B4-BE49-F238E27FC236}">
                <a16:creationId xmlns:a16="http://schemas.microsoft.com/office/drawing/2014/main" id="{2FB4B915-8715-49E0-B333-13D18EB2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337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ETF 按 252 日、BTC 按 365 日年化；波動不代表虧損機率。</a:t>
            </a:r>
          </a:p>
        </p:txBody>
      </p:sp>
      <p:sp>
        <p:nvSpPr>
          <p:cNvPr id="11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D54BC85D-DDCD-4937-8AC1-B1B77EC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5D7"/>
            </a:solidFill>
            <a:prstDash val="solid"/>
          </a:ln>
        </p:spPr>
      </p:sp>
      <p:sp>
        <p:nvSpPr>
          <p:cNvPr id="12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2FEB3877-A324-41B7-8D09-66B5C002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最大回撤</a:t>
            </a:r>
          </a:p>
        </p:txBody>
      </p:sp>
      <p:sp>
        <p:nvSpPr>
          <p:cNvPr id="13" name="metric-2-tag">
            <a:extLst xmlns:a="http://schemas.openxmlformats.org/drawingml/2006/main">
              <a:ext uri="{FF2B5EF4-FFF2-40B4-BE49-F238E27FC236}">
                <a16:creationId xmlns:a16="http://schemas.microsoft.com/office/drawing/2014/main" id="{AEF1DBC9-E670-4E15-9A8D-FAC6E7C1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52900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報酬指數相對歷史高點</a:t>
            </a:r>
          </a:p>
        </p:txBody>
      </p:sp>
      <p:sp>
        <p:nvSpPr>
          <p:cNvPr id="14" name="metric-2-meaning">
            <a:extLst xmlns:a="http://schemas.openxmlformats.org/drawingml/2006/main">
              <a:ext uri="{FF2B5EF4-FFF2-40B4-BE49-F238E27FC236}">
                <a16:creationId xmlns:a16="http://schemas.microsoft.com/office/drawing/2014/main" id="{4D589E2E-9281-4C6D-B3E9-796CD7F4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338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衡量標的從前高到谷底的最大跌幅，不受後續投入金額抬高。</a:t>
            </a:r>
          </a:p>
        </p:txBody>
      </p:sp>
      <p:sp>
        <p:nvSpPr>
          <p:cNvPr id="15" name="risk-footnote">
            <a:extLst xmlns:a="http://schemas.openxmlformats.org/drawingml/2006/main">
              <a:ext uri="{FF2B5EF4-FFF2-40B4-BE49-F238E27FC236}">
                <a16:creationId xmlns:a16="http://schemas.microsoft.com/office/drawing/2014/main" id="{56656112-740F-42FC-8817-F76E2210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指標描述歷史資料；它們不包含手續費、稅負、滑價或匯兌成本。</a:t>
            </a:r>
          </a:p>
        </p:txBody>
      </p:sp>
    </p:spTree>
    <p:extLst>
      <p:ext uri="{BB962C8B-B14F-4D97-AF65-F5344CB8AC3E}">
        <p14:creationId xmlns:p14="http://schemas.microsoft.com/office/powerpoint/2010/main" val="1942864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4C9BB0-6B93-4DD2-BDE0-A4BB44E8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模型預測未來 H 期對數報酬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F3B07AD-CBE0-4B8E-90B3-A06DF87A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B771B9-F3A5-4C2E-8510-25B960E8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06 / 09</a:t>
            </a:r>
          </a:p>
        </p:txBody>
      </p:sp>
      <p:sp>
        <p:nvSpPr>
          <p:cNvPr id="4" name="feature-heading">
            <a:extLst xmlns:a="http://schemas.openxmlformats.org/drawingml/2006/main">
              <a:ext uri="{FF2B5EF4-FFF2-40B4-BE49-F238E27FC236}">
                <a16:creationId xmlns:a16="http://schemas.microsoft.com/office/drawing/2014/main" id="{C71E6F6A-B4A8-4FD8-8427-5DF28EB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預測日可取得的價格特徵</a:t>
            </a:r>
          </a:p>
        </p:txBody>
      </p:sp>
      <p:sp>
        <p:nvSpPr>
          <p:cNvPr id="5" name="feature-0-name">
            <a:extLst xmlns:a="http://schemas.openxmlformats.org/drawingml/2006/main">
              <a:ext uri="{FF2B5EF4-FFF2-40B4-BE49-F238E27FC236}">
                <a16:creationId xmlns:a16="http://schemas.microsoft.com/office/drawing/2014/main" id="{9E6D6C3C-C676-42F5-9EA5-B2032454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動能</a:t>
            </a:r>
          </a:p>
        </p:txBody>
      </p:sp>
      <p:sp>
        <p:nvSpPr>
          <p:cNvPr id="6" name="feature-0-detail">
            <a:extLst xmlns:a="http://schemas.openxmlformats.org/drawingml/2006/main">
              <a:ext uri="{FF2B5EF4-FFF2-40B4-BE49-F238E27FC236}">
                <a16:creationId xmlns:a16="http://schemas.microsoft.com/office/drawing/2014/main" id="{D3F9CBBA-B2B9-49D4-A6C7-C0F58E98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66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5、20、60 期價格變化</a:t>
            </a:r>
          </a:p>
        </p:txBody>
      </p:sp>
      <p:sp>
        <p:nvSpPr>
          <p:cNvPr id="7" name="feature-1-name">
            <a:extLst xmlns:a="http://schemas.openxmlformats.org/drawingml/2006/main">
              <a:ext uri="{FF2B5EF4-FFF2-40B4-BE49-F238E27FC236}">
                <a16:creationId xmlns:a16="http://schemas.microsoft.com/office/drawing/2014/main" id="{EA74C90B-97D4-4371-AB9F-6757B872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波動</a:t>
            </a:r>
          </a:p>
        </p:txBody>
      </p:sp>
      <p:sp>
        <p:nvSpPr>
          <p:cNvPr id="8" name="feature-1-detail">
            <a:extLst xmlns:a="http://schemas.openxmlformats.org/drawingml/2006/main">
              <a:ext uri="{FF2B5EF4-FFF2-40B4-BE49-F238E27FC236}">
                <a16:creationId xmlns:a16="http://schemas.microsoft.com/office/drawing/2014/main" id="{21A82300-A416-45DE-B0DE-0C394003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9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20、60 期報酬標準差</a:t>
            </a:r>
          </a:p>
        </p:txBody>
      </p:sp>
      <p:sp>
        <p:nvSpPr>
          <p:cNvPr id="9" name="feature-2-name">
            <a:extLst xmlns:a="http://schemas.openxmlformats.org/drawingml/2006/main">
              <a:ext uri="{FF2B5EF4-FFF2-40B4-BE49-F238E27FC236}">
                <a16:creationId xmlns:a16="http://schemas.microsoft.com/office/drawing/2014/main" id="{B86CAA88-DF1B-4E2A-9F47-3DECA5B4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趨勢</a:t>
            </a:r>
          </a:p>
        </p:txBody>
      </p:sp>
      <p:sp>
        <p:nvSpPr>
          <p:cNvPr id="10" name="feature-2-detail">
            <a:extLst xmlns:a="http://schemas.openxmlformats.org/drawingml/2006/main">
              <a:ext uri="{FF2B5EF4-FFF2-40B4-BE49-F238E27FC236}">
                <a16:creationId xmlns:a16="http://schemas.microsoft.com/office/drawing/2014/main" id="{61B9F527-6678-45C0-B955-EB3DD31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52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價格相對 20、60 期均線</a:t>
            </a:r>
          </a:p>
        </p:txBody>
      </p:sp>
      <p:sp>
        <p:nvSpPr>
          <p:cNvPr id="11" name="model-divider">
            <a:extLst xmlns:a="http://schemas.openxmlformats.org/drawingml/2006/main">
              <a:ext uri="{FF2B5EF4-FFF2-40B4-BE49-F238E27FC236}">
                <a16:creationId xmlns:a16="http://schemas.microsoft.com/office/drawing/2014/main" id="{C8B1927D-6DAA-4287-A905-A9A608C1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0" cy="279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12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7845B743-F5DB-4C10-AA85-534D20C7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預測目標</a:t>
            </a:r>
          </a:p>
        </p:txBody>
      </p:sp>
      <p:sp>
        <p:nvSpPr>
          <p:cNvPr id="13" name="target-formula">
            <a:extLst xmlns:a="http://schemas.openxmlformats.org/drawingml/2006/main">
              <a:ext uri="{FF2B5EF4-FFF2-40B4-BE49-F238E27FC236}">
                <a16:creationId xmlns:a16="http://schemas.microsoft.com/office/drawing/2014/main" id="{4FCAF865-9D68-468A-A616-CC22E8C0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812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log(Priceₜ₊H / Priceₜ)</a:t>
            </a:r>
          </a:p>
        </p:txBody>
      </p:sp>
      <p:sp>
        <p:nvSpPr>
          <p:cNvPr id="14" name="target-copy">
            <a:extLst xmlns:a="http://schemas.openxmlformats.org/drawingml/2006/main">
              <a:ext uri="{FF2B5EF4-FFF2-40B4-BE49-F238E27FC236}">
                <a16:creationId xmlns:a16="http://schemas.microsoft.com/office/drawing/2014/main" id="{96E778FC-5627-47B0-9717-ECF0527E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57500"/>
            <a:ext cx="4191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以未來 H 個有效價格觀測的對數報酬訓練模型，再轉成一般報酬率顯示。</a:t>
            </a:r>
          </a:p>
        </p:txBody>
      </p:sp>
      <p:sp>
        <p:nvSpPr>
          <p:cNvPr id="15" name="candidate-bg">
            <a:extLst xmlns:a="http://schemas.openxmlformats.org/drawingml/2006/main">
              <a:ext uri="{FF2B5EF4-FFF2-40B4-BE49-F238E27FC236}">
                <a16:creationId xmlns:a16="http://schemas.microsoft.com/office/drawing/2014/main" id="{AD6EEB29-2A75-43CA-84B1-A04BD22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108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ndidate-models">
            <a:extLst xmlns:a="http://schemas.openxmlformats.org/drawingml/2006/main">
              <a:ext uri="{FF2B5EF4-FFF2-40B4-BE49-F238E27FC236}">
                <a16:creationId xmlns:a16="http://schemas.microsoft.com/office/drawing/2014/main" id="{56FBDC80-4808-43B5-BBC3-9980EAAB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候選模型　Random Forest（250 棵樹）　／　標準化 Ridge（α = 1）</a:t>
            </a:r>
          </a:p>
        </p:txBody>
      </p:sp>
    </p:spTree>
    <p:extLst>
      <p:ext uri="{BB962C8B-B14F-4D97-AF65-F5344CB8AC3E}">
        <p14:creationId xmlns:p14="http://schemas.microsoft.com/office/powerpoint/2010/main" val="1898384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90D23F-7794-48E9-95E6-5269A814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時間順序切分降低前視偏誤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6305006-1115-47F7-B610-5F58C4EE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E7EA31-0988-46F8-9418-81F7551A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07 / 09</a:t>
            </a:r>
          </a:p>
        </p:txBody>
      </p:sp>
      <p:sp>
        <p:nvSpPr>
          <p:cNvPr id="4" name="timeline-order">
            <a:extLst xmlns:a="http://schemas.openxmlformats.org/drawingml/2006/main">
              <a:ext uri="{FF2B5EF4-FFF2-40B4-BE49-F238E27FC236}">
                <a16:creationId xmlns:a16="http://schemas.microsoft.com/office/drawing/2014/main" id="{FE4EA0CD-34FD-44D0-AFDB-A6BE7AFC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較早資料</a:t>
            </a:r>
          </a:p>
        </p:txBody>
      </p:sp>
      <p:sp>
        <p:nvSpPr>
          <p:cNvPr id="5" name="timeline-later">
            <a:extLst xmlns:a="http://schemas.openxmlformats.org/drawingml/2006/main">
              <a:ext uri="{FF2B5EF4-FFF2-40B4-BE49-F238E27FC236}">
                <a16:creationId xmlns:a16="http://schemas.microsoft.com/office/drawing/2014/main" id="{5991B433-A012-4940-A266-70CB7A5E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764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較晚資料</a:t>
            </a:r>
          </a:p>
        </p:txBody>
      </p:sp>
      <p:sp>
        <p:nvSpPr>
          <p:cNvPr id="6" name="development-bar">
            <a:extLst xmlns:a="http://schemas.openxmlformats.org/drawingml/2006/main">
              <a:ext uri="{FF2B5EF4-FFF2-40B4-BE49-F238E27FC236}">
                <a16:creationId xmlns:a16="http://schemas.microsoft.com/office/drawing/2014/main" id="{2D0A9F9C-586E-4163-9934-6BBD9FC4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7715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6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velopment-label">
            <a:extLst xmlns:a="http://schemas.openxmlformats.org/drawingml/2006/main">
              <a:ext uri="{FF2B5EF4-FFF2-40B4-BE49-F238E27FC236}">
                <a16:creationId xmlns:a16="http://schemas.microsoft.com/office/drawing/2014/main" id="{2AA86AC8-4876-4CB1-B861-B8751BBA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90775"/>
            <a:ext cx="733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前 80% 開發區</a:t>
            </a:r>
          </a:p>
        </p:txBody>
      </p:sp>
      <p:sp>
        <p:nvSpPr>
          <p:cNvPr id="8" name="purge-bar">
            <a:extLst xmlns:a="http://schemas.openxmlformats.org/drawingml/2006/main">
              <a:ext uri="{FF2B5EF4-FFF2-40B4-BE49-F238E27FC236}">
                <a16:creationId xmlns:a16="http://schemas.microsoft.com/office/drawing/2014/main" id="{5CDE8BE0-6B3D-40D7-93BF-CCFBA1A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40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oldout-bar">
            <a:extLst xmlns:a="http://schemas.openxmlformats.org/drawingml/2006/main">
              <a:ext uri="{FF2B5EF4-FFF2-40B4-BE49-F238E27FC236}">
                <a16:creationId xmlns:a16="http://schemas.microsoft.com/office/drawing/2014/main" id="{0AF37300-F18A-4D57-A0BF-802C2E3A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77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oldout-label">
            <a:extLst xmlns:a="http://schemas.openxmlformats.org/drawingml/2006/main">
              <a:ext uri="{FF2B5EF4-FFF2-40B4-BE49-F238E27FC236}">
                <a16:creationId xmlns:a16="http://schemas.microsoft.com/office/drawing/2014/main" id="{38B09EEF-E3F2-44F3-911F-75A3534A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907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 20% 測試資料</a:t>
            </a:r>
          </a:p>
        </p:txBody>
      </p:sp>
      <p:sp>
        <p:nvSpPr>
          <p:cNvPr id="11" name="purge-label">
            <a:extLst xmlns:a="http://schemas.openxmlformats.org/drawingml/2006/main">
              <a:ext uri="{FF2B5EF4-FFF2-40B4-BE49-F238E27FC236}">
                <a16:creationId xmlns:a16="http://schemas.microsoft.com/office/drawing/2014/main" id="{EB6E2853-B54F-4D20-8C72-6BC0FC06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H 期隔離</a:t>
            </a:r>
          </a:p>
        </p:txBody>
      </p:sp>
      <p:sp>
        <p:nvSpPr>
          <p:cNvPr id="12" name="inner-validation-title">
            <a:extLst xmlns:a="http://schemas.openxmlformats.org/drawingml/2006/main">
              <a:ext uri="{FF2B5EF4-FFF2-40B4-BE49-F238E27FC236}">
                <a16:creationId xmlns:a16="http://schemas.microsoft.com/office/drawing/2014/main" id="{93F9A25C-6C50-4BB8-9F05-D4B20F0E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開發資料內的選模</a:t>
            </a:r>
          </a:p>
        </p:txBody>
      </p:sp>
      <p:sp>
        <p:nvSpPr>
          <p:cNvPr id="13" name="inner-validation-copy">
            <a:extLst xmlns:a="http://schemas.openxmlformats.org/drawingml/2006/main">
              <a:ext uri="{FF2B5EF4-FFF2-40B4-BE49-F238E27FC236}">
                <a16:creationId xmlns:a16="http://schemas.microsoft.com/office/drawing/2014/main" id="{327C5B44-BB46-440C-AF68-AFCCD174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6429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依時間順序驗證 Random Forest 與 Ridge，以 MAE 較低者作為入選模型。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訓練區間末端再隔離 H 筆，減少前向報酬標籤跨界重疊。</a:t>
            </a:r>
          </a:p>
        </p:txBody>
      </p:sp>
      <p:sp>
        <p:nvSpPr>
          <p:cNvPr id="14" name="baseline-rule">
            <a:extLst xmlns:a="http://schemas.openxmlformats.org/drawingml/2006/main">
              <a:ext uri="{FF2B5EF4-FFF2-40B4-BE49-F238E27FC236}">
                <a16:creationId xmlns:a16="http://schemas.microsoft.com/office/drawing/2014/main" id="{2BE92523-9FD6-4797-ACF4-B70862BD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481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15" name="baseline-title">
            <a:extLst xmlns:a="http://schemas.openxmlformats.org/drawingml/2006/main">
              <a:ext uri="{FF2B5EF4-FFF2-40B4-BE49-F238E27FC236}">
                <a16:creationId xmlns:a16="http://schemas.microsoft.com/office/drawing/2014/main" id="{D1FC8934-28C4-43A6-BCAB-07B2875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保留測試資料</a:t>
            </a:r>
          </a:p>
        </p:txBody>
      </p:sp>
      <p:sp>
        <p:nvSpPr>
          <p:cNvPr id="16" name="baseline-copy">
            <a:extLst xmlns:a="http://schemas.openxmlformats.org/drawingml/2006/main">
              <a:ext uri="{FF2B5EF4-FFF2-40B4-BE49-F238E27FC236}">
                <a16:creationId xmlns:a16="http://schemas.microsoft.com/office/drawing/2014/main" id="{62B8BF01-A920-4A0F-93BE-FD1DCC93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71975"/>
            <a:ext cx="319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最後比較 MAE、RMSE，</a:t>
            </a:r>
          </a:p>
          <a:p xmlns:a="http://schemas.openxmlformats.org/drawingml/2006/main">
            <a:pPr algn="l">
              <a:def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並對照零報酬與訓練平均基準。</a:t>
            </a:r>
          </a:p>
        </p:txBody>
      </p:sp>
      <p:sp>
        <p:nvSpPr>
          <p:cNvPr id="17" name="timeline-scale-note">
            <a:extLst xmlns:a="http://schemas.openxmlformats.org/drawingml/2006/main">
              <a:ext uri="{FF2B5EF4-FFF2-40B4-BE49-F238E27FC236}">
                <a16:creationId xmlns:a16="http://schemas.microsoft.com/office/drawing/2014/main" id="{97B5188A-F9C5-4551-A555-0BCB61C5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區段寬度為示意；H 期隔離長度會隨預測期間改變。</a:t>
            </a:r>
          </a:p>
        </p:txBody>
      </p:sp>
    </p:spTree>
    <p:extLst>
      <p:ext uri="{BB962C8B-B14F-4D97-AF65-F5344CB8AC3E}">
        <p14:creationId xmlns:p14="http://schemas.microsoft.com/office/powerpoint/2010/main" val="1609884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2B9CD8-6C24-49CE-B3C1-F7D08A67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模型情境範圍來自過去測試期的報酬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12425CA-7EF2-42C0-AC10-2648AFFA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4793D1-174D-4533-B76C-271A798B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08 / 09</a:t>
            </a:r>
          </a:p>
        </p:txBody>
      </p:sp>
      <p:sp>
        <p:nvSpPr>
          <p:cNvPr id="4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C554452-6F9C-4F41-88A7-B34525B6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97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畫面同時呈現三種資訊</a:t>
            </a:r>
          </a:p>
        </p:txBody>
      </p:sp>
      <p:sp>
        <p:nvSpPr>
          <p:cNvPr id="5" name="output-forecast-title">
            <a:extLst xmlns:a="http://schemas.openxmlformats.org/drawingml/2006/main">
              <a:ext uri="{FF2B5EF4-FFF2-40B4-BE49-F238E27FC236}">
                <a16:creationId xmlns:a16="http://schemas.microsoft.com/office/drawing/2014/main" id="{6585B82B-F401-429A-A583-96B68383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中央估算</a:t>
            </a:r>
          </a:p>
        </p:txBody>
      </p:sp>
      <p:sp>
        <p:nvSpPr>
          <p:cNvPr id="6" name="output-forecast-copy">
            <a:extLst xmlns:a="http://schemas.openxmlformats.org/drawingml/2006/main">
              <a:ext uri="{FF2B5EF4-FFF2-40B4-BE49-F238E27FC236}">
                <a16:creationId xmlns:a16="http://schemas.microsoft.com/office/drawing/2014/main" id="{D47E3D74-D6F9-4088-A9D0-173356D3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入選模型對最新價格特徵的 H 期報酬預測。</a:t>
            </a:r>
          </a:p>
        </p:txBody>
      </p:sp>
      <p:sp>
        <p:nvSpPr>
          <p:cNvPr id="7" name="output-divide-one">
            <a:extLst xmlns:a="http://schemas.openxmlformats.org/drawingml/2006/main">
              <a:ext uri="{FF2B5EF4-FFF2-40B4-BE49-F238E27FC236}">
                <a16:creationId xmlns:a16="http://schemas.microsoft.com/office/drawing/2014/main" id="{0222B8AE-FD47-4815-8363-FA0E6A7B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17170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8" name="output-range-title">
            <a:extLst xmlns:a="http://schemas.openxmlformats.org/drawingml/2006/main">
              <a:ext uri="{FF2B5EF4-FFF2-40B4-BE49-F238E27FC236}">
                <a16:creationId xmlns:a16="http://schemas.microsoft.com/office/drawing/2014/main" id="{CB548D7C-0DC7-4166-A12D-00EC7E66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歷史情境</a:t>
            </a:r>
          </a:p>
        </p:txBody>
      </p:sp>
      <p:sp>
        <p:nvSpPr>
          <p:cNvPr id="9" name="output-range-copy">
            <a:extLst xmlns:a="http://schemas.openxmlformats.org/drawingml/2006/main">
              <a:ext uri="{FF2B5EF4-FFF2-40B4-BE49-F238E27FC236}">
                <a16:creationId xmlns:a16="http://schemas.microsoft.com/office/drawing/2014/main" id="{8C9C378D-2561-407B-AA17-456B4168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保留測試期實際報酬的第 10 至第 90 百分位數。</a:t>
            </a:r>
          </a:p>
        </p:txBody>
      </p:sp>
      <p:sp>
        <p:nvSpPr>
          <p:cNvPr id="10" name="output-rule">
            <a:extLst xmlns:a="http://schemas.openxmlformats.org/drawingml/2006/main">
              <a:ext uri="{FF2B5EF4-FFF2-40B4-BE49-F238E27FC236}">
                <a16:creationId xmlns:a16="http://schemas.microsoft.com/office/drawing/2014/main" id="{3B82E757-DBA2-49D6-871E-2D031392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11" name="output-error-title">
            <a:extLst xmlns:a="http://schemas.openxmlformats.org/drawingml/2006/main">
              <a:ext uri="{FF2B5EF4-FFF2-40B4-BE49-F238E27FC236}">
                <a16:creationId xmlns:a16="http://schemas.microsoft.com/office/drawing/2014/main" id="{37F529A6-F868-43E7-ADDE-C9906042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77CA8"/>
                </a:solidFill>
                <a:latin typeface="Microsoft JhengHei"/>
                <a:ea typeface="Microsoft JhengHei"/>
                <a:cs typeface="Microsoft JhengHei"/>
              </a:rPr>
              <a:t>測試誤差</a:t>
            </a:r>
          </a:p>
        </p:txBody>
      </p:sp>
      <p:sp>
        <p:nvSpPr>
          <p:cNvPr id="12" name="output-error-copy">
            <a:extLst xmlns:a="http://schemas.openxmlformats.org/drawingml/2006/main">
              <a:ext uri="{FF2B5EF4-FFF2-40B4-BE49-F238E27FC236}">
                <a16:creationId xmlns:a16="http://schemas.microsoft.com/office/drawing/2014/main" id="{4D88AB18-3E4E-4917-A559-AAEAFD0A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模型 MAE、RMSE 與簡單基準比較模型在保留資料上的誤差。</a:t>
            </a:r>
          </a:p>
        </p:txBody>
      </p:sp>
      <p:sp>
        <p:nvSpPr>
          <p:cNvPr id="13" name="range-caveat-bg">
            <a:extLst xmlns:a="http://schemas.openxmlformats.org/drawingml/2006/main">
              <a:ext uri="{FF2B5EF4-FFF2-40B4-BE49-F238E27FC236}">
                <a16:creationId xmlns:a16="http://schemas.microsoft.com/office/drawing/2014/main" id="{5DB95AC8-EA77-447E-AF9B-A746308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6108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6E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nge-caveat">
            <a:extLst xmlns:a="http://schemas.openxmlformats.org/drawingml/2006/main">
              <a:ext uri="{FF2B5EF4-FFF2-40B4-BE49-F238E27FC236}">
                <a16:creationId xmlns:a16="http://schemas.microsoft.com/office/drawing/2014/main" id="{FB31DB3B-2E34-459F-A893-D1021E54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91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歷史分位數不是信賴區間，也不代表未來報酬會落在範圍內。</a:t>
            </a:r>
          </a:p>
        </p:txBody>
      </p:sp>
    </p:spTree>
    <p:extLst>
      <p:ext uri="{BB962C8B-B14F-4D97-AF65-F5344CB8AC3E}">
        <p14:creationId xmlns:p14="http://schemas.microsoft.com/office/powerpoint/2010/main" val="1441433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62B1BB-268E-460E-B18A-98E9DBA0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A3A"/>
                </a:solidFill>
                <a:latin typeface="Microsoft JhengHei"/>
                <a:ea typeface="Microsoft JhengHei"/>
                <a:cs typeface="Microsoft JhengHei"/>
              </a:rPr>
              <a:t>目前適合比較方法，還不能替投資人選標的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0E86581-2725-45A5-84D0-A8467224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A627F9-02D4-4346-8687-6378F124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17482"/>
                </a:solidFill>
                <a:latin typeface="Microsoft JhengHei"/>
                <a:ea typeface="Microsoft JhengHei"/>
                <a:cs typeface="Microsoft JhengHei"/>
              </a:rPr>
              <a:t>09 / 09</a:t>
            </a:r>
          </a:p>
        </p:txBody>
      </p:sp>
      <p:sp>
        <p:nvSpPr>
          <p:cNvPr id="4" name="can-answer-title">
            <a:extLst xmlns:a="http://schemas.openxmlformats.org/drawingml/2006/main">
              <a:ext uri="{FF2B5EF4-FFF2-40B4-BE49-F238E27FC236}">
                <a16:creationId xmlns:a16="http://schemas.microsoft.com/office/drawing/2014/main" id="{6B2C5B21-69E0-48EB-A32D-2415EA8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E6F67"/>
                </a:solidFill>
                <a:latin typeface="Microsoft JhengHei"/>
                <a:ea typeface="Microsoft JhengHei"/>
                <a:cs typeface="Microsoft JhengHei"/>
              </a:rPr>
              <a:t>系統可以呈現</a:t>
            </a:r>
          </a:p>
        </p:txBody>
      </p:sp>
      <p:sp>
        <p:nvSpPr>
          <p:cNvPr id="5" name="can-answer-copy">
            <a:extLst xmlns:a="http://schemas.openxmlformats.org/drawingml/2006/main">
              <a:ext uri="{FF2B5EF4-FFF2-40B4-BE49-F238E27FC236}">
                <a16:creationId xmlns:a16="http://schemas.microsoft.com/office/drawing/2014/main" id="{BC39AE92-AB2A-496C-9B57-44C4B04E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不同資產的歷史報酬與風險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兩種投入方式的歷史差異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模型與簡單基準的測試誤差</a:t>
            </a:r>
          </a:p>
        </p:txBody>
      </p:sp>
      <p:sp>
        <p:nvSpPr>
          <p:cNvPr id="6" name="conclusion-divider">
            <a:extLst xmlns:a="http://schemas.openxmlformats.org/drawingml/2006/main">
              <a:ext uri="{FF2B5EF4-FFF2-40B4-BE49-F238E27FC236}">
                <a16:creationId xmlns:a16="http://schemas.microsoft.com/office/drawing/2014/main" id="{B81A3C98-A71A-4E90-8609-1181F7DC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0" cy="278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DD5D7"/>
            </a:solidFill>
            <a:prstDash val="solid"/>
          </a:ln>
        </p:spPr>
      </p:sp>
      <p:sp>
        <p:nvSpPr>
          <p:cNvPr id="7" name="not-answer-title">
            <a:extLst xmlns:a="http://schemas.openxmlformats.org/drawingml/2006/main">
              <a:ext uri="{FF2B5EF4-FFF2-40B4-BE49-F238E27FC236}">
                <a16:creationId xmlns:a16="http://schemas.microsoft.com/office/drawing/2014/main" id="{58950324-B5DB-461A-82B7-6ED757D0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859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94640A"/>
                </a:solidFill>
                <a:latin typeface="Microsoft JhengHei"/>
                <a:ea typeface="Microsoft JhengHei"/>
                <a:cs typeface="Microsoft JhengHei"/>
              </a:rPr>
              <a:t>目前尚未估算</a:t>
            </a:r>
          </a:p>
        </p:txBody>
      </p:sp>
      <p:sp>
        <p:nvSpPr>
          <p:cNvPr id="8" name="not-answer-copy">
            <a:extLst xmlns:a="http://schemas.openxmlformats.org/drawingml/2006/main">
              <a:ext uri="{FF2B5EF4-FFF2-40B4-BE49-F238E27FC236}">
                <a16:creationId xmlns:a16="http://schemas.microsoft.com/office/drawing/2014/main" id="{D4EA46BA-133F-4E72-B3F6-D9F89995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扣除費用後的實際投資結果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不同資產的最佳配置比例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B4A"/>
                </a:solidFill>
                <a:latin typeface="Microsoft JhengHei"/>
                <a:ea typeface="Microsoft JhengHei"/>
                <a:cs typeface="Microsoft JhengHei"/>
              </a:rPr>
              <a:t>模型能否長期勝過市場基準</a:t>
            </a:r>
          </a:p>
        </p:txBody>
      </p:sp>
      <p:sp>
        <p:nvSpPr>
          <p:cNvPr id="9" name="conclusion-bg">
            <a:extLst xmlns:a="http://schemas.openxmlformats.org/drawingml/2006/main">
              <a:ext uri="{FF2B5EF4-FFF2-40B4-BE49-F238E27FC236}">
                <a16:creationId xmlns:a16="http://schemas.microsoft.com/office/drawing/2014/main" id="{B6FF719E-F426-4565-AF3D-EB1CAB23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6108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2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13704696-CC5E-4DE7-958F-647B3444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1003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使用前先檢視資料區間、基準誤差和模型限制。歷史績效不代表未來結果。</a:t>
            </a:r>
          </a:p>
        </p:txBody>
      </p:sp>
    </p:spTree>
    <p:extLst>
      <p:ext uri="{BB962C8B-B14F-4D97-AF65-F5344CB8AC3E}">
        <p14:creationId xmlns:p14="http://schemas.microsoft.com/office/powerpoint/2010/main" val="1740346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2026-10-18T15:11:51.7430000Z</dcterms:created>
  <dcterms:modified xsi:type="dcterms:W3CDTF">2026-10-18T15:11:51.7430000Z</dcterms:modified>
</coreProperties>
</file>