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f5ff462a754c20" /><Relationship Type="http://schemas.openxmlformats.org/officeDocument/2006/relationships/extended-properties" Target="/docProps/app.xml" Id="Ree87fb80f4f74a3d" /><Relationship Type="http://schemas.openxmlformats.org/officeDocument/2006/relationships/officeDocument" Target="/ppt/presentation.xml" Id="Rb54e30f9737b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fcc15f9da4c0d"/>
  </p:sldMasterIdLst>
  <p:notesMasterIdLst>
    <p:notesMasterId xmlns:r="http://schemas.openxmlformats.org/officeDocument/2006/relationships" r:id="Rccdf187902b74cb9"/>
  </p:notesMasterIdLst>
  <p:sldIdLst>
    <p:sldId xmlns:r="http://schemas.openxmlformats.org/officeDocument/2006/relationships" id="256" r:id="R5ab829d86bfc47ca"/>
    <p:sldId xmlns:r="http://schemas.openxmlformats.org/officeDocument/2006/relationships" id="257" r:id="R78773c6615c3469d"/>
    <p:sldId xmlns:r="http://schemas.openxmlformats.org/officeDocument/2006/relationships" id="258" r:id="Rcad678ddcef94cff"/>
    <p:sldId xmlns:r="http://schemas.openxmlformats.org/officeDocument/2006/relationships" id="259" r:id="R5bcf062194b94ac2"/>
    <p:sldId xmlns:r="http://schemas.openxmlformats.org/officeDocument/2006/relationships" id="260" r:id="Rf5bf496180f14295"/>
    <p:sldId xmlns:r="http://schemas.openxmlformats.org/officeDocument/2006/relationships" id="261" r:id="Ra206fa1103474f32"/>
    <p:sldId xmlns:r="http://schemas.openxmlformats.org/officeDocument/2006/relationships" id="262" r:id="Ra9446a20c0c7420b"/>
    <p:sldId xmlns:r="http://schemas.openxmlformats.org/officeDocument/2006/relationships" id="263" r:id="R43b4271b44204141"/>
    <p:sldId xmlns:r="http://schemas.openxmlformats.org/officeDocument/2006/relationships" id="264" r:id="Rf0ce4e46b4cf4887"/>
    <p:sldId xmlns:r="http://schemas.openxmlformats.org/officeDocument/2006/relationships" id="265" r:id="R159371d645ae4e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fba52fd4504b82" /><Relationship Type="http://schemas.openxmlformats.org/officeDocument/2006/relationships/slideMaster" Target="/ppt/slideMasters/slideMaster1.xml" Id="R571fcc15f9da4c0d" /><Relationship Type="http://schemas.openxmlformats.org/officeDocument/2006/relationships/notesMaster" Target="/ppt/notesMasters/notesMaster1.xml" Id="Rccdf187902b74cb9" /><Relationship Type="http://schemas.openxmlformats.org/officeDocument/2006/relationships/presProps" Target="/ppt/presProps.xml" Id="R6569008f361b49e2" /><Relationship Type="http://schemas.openxmlformats.org/officeDocument/2006/relationships/tableStyles" Target="/ppt/tableStyles.xml" Id="Rb4a948ca4a274a59" /><Relationship Type="http://schemas.openxmlformats.org/officeDocument/2006/relationships/slide" Target="/ppt/slides/slide1.xml" Id="R5ab829d86bfc47ca" /><Relationship Type="http://schemas.openxmlformats.org/officeDocument/2006/relationships/slide" Target="/ppt/slides/slide2.xml" Id="R78773c6615c3469d" /><Relationship Type="http://schemas.openxmlformats.org/officeDocument/2006/relationships/slide" Target="/ppt/slides/slide3.xml" Id="Rcad678ddcef94cff" /><Relationship Type="http://schemas.openxmlformats.org/officeDocument/2006/relationships/slide" Target="/ppt/slides/slide4.xml" Id="R5bcf062194b94ac2" /><Relationship Type="http://schemas.openxmlformats.org/officeDocument/2006/relationships/slide" Target="/ppt/slides/slide5.xml" Id="Rf5bf496180f14295" /><Relationship Type="http://schemas.openxmlformats.org/officeDocument/2006/relationships/slide" Target="/ppt/slides/slide6.xml" Id="Ra206fa1103474f32" /><Relationship Type="http://schemas.openxmlformats.org/officeDocument/2006/relationships/slide" Target="/ppt/slides/slide7.xml" Id="Ra9446a20c0c7420b" /><Relationship Type="http://schemas.openxmlformats.org/officeDocument/2006/relationships/slide" Target="/ppt/slides/slide8.xml" Id="R43b4271b44204141" /><Relationship Type="http://schemas.openxmlformats.org/officeDocument/2006/relationships/slide" Target="/ppt/slides/slide9.xml" Id="Rf0ce4e46b4cf4887" /><Relationship Type="http://schemas.openxmlformats.org/officeDocument/2006/relationships/slide" Target="/ppt/slides/slide10.xml" Id="R159371d645ae4e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c34cdf5cf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4051341db4873" /><Relationship Type="http://schemas.openxmlformats.org/officeDocument/2006/relationships/notesMaster" Target="/ppt/notesMasters/notesMaster1.xml" Id="Rf9e60ee32f17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ed3dc3f5454cd2" /><Relationship Type="http://schemas.openxmlformats.org/officeDocument/2006/relationships/notesMaster" Target="/ppt/notesMasters/notesMaster1.xml" Id="R08bb3f13f64049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faa5921c340c6" /><Relationship Type="http://schemas.openxmlformats.org/officeDocument/2006/relationships/notesMaster" Target="/ppt/notesMasters/notesMaster1.xml" Id="Rad7a02b7641448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4847972230453a" /><Relationship Type="http://schemas.openxmlformats.org/officeDocument/2006/relationships/notesMaster" Target="/ppt/notesMasters/notesMaster1.xml" Id="R252d6280f4fd4f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c62b885cb44d5b" /><Relationship Type="http://schemas.openxmlformats.org/officeDocument/2006/relationships/notesMaster" Target="/ppt/notesMasters/notesMaster1.xml" Id="R33cd0c8e74c8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ceb0cb64b14cbd" /><Relationship Type="http://schemas.openxmlformats.org/officeDocument/2006/relationships/notesMaster" Target="/ppt/notesMasters/notesMaster1.xml" Id="R42adcc11b2ab47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46e0b8cd934642" /><Relationship Type="http://schemas.openxmlformats.org/officeDocument/2006/relationships/notesMaster" Target="/ppt/notesMasters/notesMaster1.xml" Id="Re62511f1e50d42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7818f3a5bc43d2" /><Relationship Type="http://schemas.openxmlformats.org/officeDocument/2006/relationships/notesMaster" Target="/ppt/notesMasters/notesMaster1.xml" Id="Re941cacd1e314c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5c3401046c4b3d" /><Relationship Type="http://schemas.openxmlformats.org/officeDocument/2006/relationships/notesMaster" Target="/ppt/notesMasters/notesMaster1.xml" Id="Rc3c7ca0360374d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b43c2349a64420" /><Relationship Type="http://schemas.openxmlformats.org/officeDocument/2006/relationships/notesMaster" Target="/ppt/notesMasters/notesMaster1.xml" Id="R70bcb1587d1c43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資料來源：專案 README.md、simulation.py、model.py。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封面只交代主題與比較標的；簡報接著說明網頁架構、資料、回測與模型評估方法。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資料來源：README.md、templates/index.html。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使用者可以設定起訖日期、總預算、投入方式、比較標的和預測期間。各標的分別使用完整預算計算。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資料來源：app.py、simulation.py、model.py、templates/index.html、static/app.js。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瀏覽器將表單設定以 JSON 傳給 Flask。後端取得行情、執行回測與模型估算，再把結果傳回瀏覽器呈現。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資料來源：simulation.py 的 get_market_data()；README.md。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資產價格維持各自有效觀測日。匯率只在資產交易日向前對齊，以免休市日價格被誤當成新報價。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資料來源：simulation.py 的 backtest()、investment_cash_flows()。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兩種方法使用同一筆總預算，便於比較投入時點差異。圖中公式省略價格資料日索引等實作細節。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資料來源：simulation.py 的 money_weighted_annual_return()、backtest()。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波動按有效觀測日報酬年化。最大回撤使用累積報酬指數，而不是含現金流的定期定額帳戶價值。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資料來源：model.py 的 build_features()、_make_supervised()、_new_model()、_new_ridge_model()。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特徵只使用價格資訊，沒有加入成交量、總體經濟資料或基本面。預測期 H 由介面選擇。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資料來源：model.py 的 forecast_return()。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最終測試資料不參與選模。測試誤差以對數報酬為單位，H 期報酬標籤每日起點可能重疊，故誤差具有時間相依性。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資料來源：model.py 的 forecast_return()；simulation.py 的預測結果整理流程。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上下情境依測試期實際對數報酬轉換而來。中央預測和歷史情境的資料來源不同，解讀時要分開看。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資料來源：專案 README.md、simulation.py、model.py。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目前不計手續費、稅負、滑價、配息稅務或匯兌成本。專題以方法比較和互動展示為目的，未證明模型能持續優於簡單基準。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8844233bb45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0d813f0c145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1e9c9b2214e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71134ddc946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4858e276041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6b1fe110049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3A6B3C-EEFB-4BFF-800A-4BBB26A7C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C5B915-2BF2-4787-A073-C6DBE6044B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2F0D73-2281-46B6-BBE7-75B3AA50B7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5CF1F6-6E04-498E-87AD-D5FBAA0FC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ACDADA-AB96-4DE4-9406-5F7C11174A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ED36A1-B0FE-4E80-B636-6D99F73EE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416018-0760-405B-AC3E-0FB0C7613E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24C874-49A3-48B0-AAB5-83814958A7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84EBA5-CD3D-428B-BA10-0929DC6D8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BF4E34-ECEB-4596-AE9C-19A5CDF0F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d9adf65e74a1d" /><Relationship Type="http://schemas.openxmlformats.org/officeDocument/2006/relationships/slideLayout" Target="/ppt/slideLayouts/slideLayout1.xml" Id="Rf51aa6ad6d7448bb" /><Relationship Type="http://schemas.openxmlformats.org/officeDocument/2006/relationships/slideLayout" Target="/ppt/slideLayouts/slideLayout2.xml" Id="R7f8cb5c5fbad4e8f" /><Relationship Type="http://schemas.openxmlformats.org/officeDocument/2006/relationships/slideLayout" Target="/ppt/slideLayouts/slideLayout3.xml" Id="R739801f223504964" /><Relationship Type="http://schemas.openxmlformats.org/officeDocument/2006/relationships/slideLayout" Target="/ppt/slideLayouts/slideLayout4.xml" Id="Re2267c1a5a324de3" /><Relationship Type="http://schemas.openxmlformats.org/officeDocument/2006/relationships/slideLayout" Target="/ppt/slideLayouts/slideLayout5.xml" Id="R3cc4642c94c544a8" /><Relationship Type="http://schemas.openxmlformats.org/officeDocument/2006/relationships/slideLayout" Target="/ppt/slideLayouts/slideLayout6.xml" Id="Rc70854f98d434d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aa6ad6d7448bb"/>
    <p:sldLayoutId xmlns:r="http://schemas.openxmlformats.org/officeDocument/2006/relationships" id="2147483650" r:id="R7f8cb5c5fbad4e8f"/>
    <p:sldLayoutId xmlns:r="http://schemas.openxmlformats.org/officeDocument/2006/relationships" id="2147483651" r:id="R739801f223504964"/>
    <p:sldLayoutId xmlns:r="http://schemas.openxmlformats.org/officeDocument/2006/relationships" id="2147483652" r:id="Re2267c1a5a324de3"/>
    <p:sldLayoutId xmlns:r="http://schemas.openxmlformats.org/officeDocument/2006/relationships" id="2147483653" r:id="R3cc4642c94c544a8"/>
    <p:sldLayoutId xmlns:r="http://schemas.openxmlformats.org/officeDocument/2006/relationships" id="2147483654" r:id="Rc70854f98d434d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9ebee54734fbf" /><Relationship Type="http://schemas.openxmlformats.org/officeDocument/2006/relationships/notesSlide" Target="/ppt/notesSlides/notesSlide1.xml" Id="R90a55c0333964e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1d52e86a54a45" /><Relationship Type="http://schemas.openxmlformats.org/officeDocument/2006/relationships/notesSlide" Target="/ppt/notesSlides/notesSlide2.xml" Id="R5ac596639eba40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2df6e6c344b3f" /><Relationship Type="http://schemas.openxmlformats.org/officeDocument/2006/relationships/notesSlide" Target="/ppt/notesSlides/notesSlide3.xml" Id="R89ff463017e446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1c373786541f3" /><Relationship Type="http://schemas.openxmlformats.org/officeDocument/2006/relationships/notesSlide" Target="/ppt/notesSlides/notesSlide4.xml" Id="Rf27c41565491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015cc2ff24807" /><Relationship Type="http://schemas.openxmlformats.org/officeDocument/2006/relationships/notesSlide" Target="/ppt/notesSlides/notesSlide5.xml" Id="R48c8f77eb43b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0f153671d47a0" /><Relationship Type="http://schemas.openxmlformats.org/officeDocument/2006/relationships/notesSlide" Target="/ppt/notesSlides/notesSlide6.xml" Id="Rec7e7aeae3214c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555880df94600" /><Relationship Type="http://schemas.openxmlformats.org/officeDocument/2006/relationships/notesSlide" Target="/ppt/notesSlides/notesSlide7.xml" Id="Rf99d976a5f6140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e22bbc80c401c" /><Relationship Type="http://schemas.openxmlformats.org/officeDocument/2006/relationships/notesSlide" Target="/ppt/notesSlides/notesSlide8.xml" Id="R13131c2c95414b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47fcb521c4e32" /><Relationship Type="http://schemas.openxmlformats.org/officeDocument/2006/relationships/notesSlide" Target="/ppt/notesSlides/notesSlide9.xml" Id="Rb2e11db7d64244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cfbb8500d46d6" /><Relationship Type="http://schemas.openxmlformats.org/officeDocument/2006/relationships/notesSlide" Target="/ppt/notesSlides/notesSlide10.xml" Id="R892f567b6835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A8A6E50-B3F9-418C-AF46-089AE7BD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8021A6B-C74A-41AD-9D26-1865C8E0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rPr>
              <a:t>跨資產比較專題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C22ACBA-3754-46F6-A3DF-8F7E3974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跨資產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投資模擬器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F383B12-F3E4-41F8-8FE9-89E2B742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rPr>
              <a:t>歷史回測、風險衡量與模型情境</a:t>
            </a:r>
          </a:p>
        </p:txBody>
      </p:sp>
      <p:sp>
        <p:nvSpPr>
          <p:cNvPr id="5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45204340-9623-414E-BEB0-333E5E12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06C"/>
            </a:solidFill>
            <a:prstDash val="solid"/>
          </a:ln>
        </p:spPr>
      </p:sp>
      <p:sp>
        <p:nvSpPr>
          <p:cNvPr id="6" name="cover-assets">
            <a:extLst xmlns:a="http://schemas.openxmlformats.org/drawingml/2006/main">
              <a:ext uri="{FF2B5EF4-FFF2-40B4-BE49-F238E27FC236}">
                <a16:creationId xmlns:a16="http://schemas.microsoft.com/office/drawing/2014/main" id="{13A8E89C-CF06-42A9-9955-E6670BF9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rPr>
              <a:t>0050.TW     SPY     BTC-USD     GLD</a:t>
            </a:r>
          </a:p>
        </p:txBody>
      </p:sp>
      <p:sp>
        <p:nvSpPr>
          <p:cNvPr id="7" name="cover-unit">
            <a:extLst xmlns:a="http://schemas.openxmlformats.org/drawingml/2006/main">
              <a:ext uri="{FF2B5EF4-FFF2-40B4-BE49-F238E27FC236}">
                <a16:creationId xmlns:a16="http://schemas.microsoft.com/office/drawing/2014/main" id="{D0D92FBB-0BA3-432A-9FDB-8FC8B1D6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rPr>
              <a:t>所有比較以新台幣計價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88030E9B-D9E5-4360-90B3-D80EC076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76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38777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82F291-5893-46CB-B351-310947F4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專題比較投入方式與單一資產的歷史結果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4DEB5A6-471C-4ED7-AD9A-203ED983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5393F5-5A6C-4C17-8D31-72247322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02 / 10</a:t>
            </a:r>
          </a:p>
        </p:txBody>
      </p:sp>
      <p:sp>
        <p:nvSpPr>
          <p:cNvPr id="4" name="question-one">
            <a:extLst xmlns:a="http://schemas.openxmlformats.org/drawingml/2006/main">
              <a:ext uri="{FF2B5EF4-FFF2-40B4-BE49-F238E27FC236}">
                <a16:creationId xmlns:a16="http://schemas.microsoft.com/office/drawing/2014/main" id="{6A1D697C-A545-4584-97A6-442BA46E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question-one-copy">
            <a:extLst xmlns:a="http://schemas.openxmlformats.org/drawingml/2006/main">
              <a:ext uri="{FF2B5EF4-FFF2-40B4-BE49-F238E27FC236}">
                <a16:creationId xmlns:a16="http://schemas.microsoft.com/office/drawing/2014/main" id="{FA18433B-AAF4-4739-9A7A-DA642588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相同總預算下，</a:t>
            </a:r>
          </a:p>
          <a:p xmlns:a="http://schemas.openxmlformats.org/drawingml/2006/main">
            <a: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一次投入與定期定額有何差異？</a:t>
            </a:r>
          </a:p>
        </p:txBody>
      </p:sp>
      <p:sp>
        <p:nvSpPr>
          <p:cNvPr id="6" name="question-separator">
            <a:extLst xmlns:a="http://schemas.openxmlformats.org/drawingml/2006/main">
              <a:ext uri="{FF2B5EF4-FFF2-40B4-BE49-F238E27FC236}">
                <a16:creationId xmlns:a16="http://schemas.microsoft.com/office/drawing/2014/main" id="{C050E336-737B-40EF-B8FB-B90E256D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7" name="question-two">
            <a:extLst xmlns:a="http://schemas.openxmlformats.org/drawingml/2006/main">
              <a:ext uri="{FF2B5EF4-FFF2-40B4-BE49-F238E27FC236}">
                <a16:creationId xmlns:a16="http://schemas.microsoft.com/office/drawing/2014/main" id="{B24ED292-1540-4E7B-9144-F070D522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question-two-copy">
            <a:extLst xmlns:a="http://schemas.openxmlformats.org/drawingml/2006/main">
              <a:ext uri="{FF2B5EF4-FFF2-40B4-BE49-F238E27FC236}">
                <a16:creationId xmlns:a16="http://schemas.microsoft.com/office/drawing/2014/main" id="{D3E10173-35EE-4CE7-8A85-59FE1DEF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6954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報酬、波動與模型誤差</a:t>
            </a:r>
          </a:p>
          <a:p xmlns:a="http://schemas.openxmlformats.org/drawingml/2006/main">
            <a: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如何一起解讀？</a:t>
            </a:r>
          </a:p>
        </p:txBody>
      </p:sp>
      <p:sp>
        <p:nvSpPr>
          <p:cNvPr id="9" name="assets-label">
            <a:extLst xmlns:a="http://schemas.openxmlformats.org/drawingml/2006/main">
              <a:ext uri="{FF2B5EF4-FFF2-40B4-BE49-F238E27FC236}">
                <a16:creationId xmlns:a16="http://schemas.microsoft.com/office/drawing/2014/main" id="{EC725929-B5BF-4280-AB06-7A2B78A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比較標的</a:t>
            </a:r>
          </a:p>
        </p:txBody>
      </p:sp>
      <p:sp>
        <p:nvSpPr>
          <p:cNvPr id="10" name="asset-0-ticker">
            <a:extLst xmlns:a="http://schemas.openxmlformats.org/drawingml/2006/main">
              <a:ext uri="{FF2B5EF4-FFF2-40B4-BE49-F238E27FC236}">
                <a16:creationId xmlns:a16="http://schemas.microsoft.com/office/drawing/2014/main" id="{4CE05AAF-5891-427D-A6B0-4356029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0050.TW</a:t>
            </a:r>
          </a:p>
        </p:txBody>
      </p:sp>
      <p:sp>
        <p:nvSpPr>
          <p:cNvPr id="11" name="asset-0-label">
            <a:extLst xmlns:a="http://schemas.openxmlformats.org/drawingml/2006/main">
              <a:ext uri="{FF2B5EF4-FFF2-40B4-BE49-F238E27FC236}">
                <a16:creationId xmlns:a16="http://schemas.microsoft.com/office/drawing/2014/main" id="{27521AC4-4E26-425D-9C23-5943494E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台灣大型股 ETF</a:t>
            </a:r>
          </a:p>
        </p:txBody>
      </p:sp>
      <p:sp>
        <p:nvSpPr>
          <p:cNvPr id="12" name="asset-1-ticker">
            <a:extLst xmlns:a="http://schemas.openxmlformats.org/drawingml/2006/main">
              <a:ext uri="{FF2B5EF4-FFF2-40B4-BE49-F238E27FC236}">
                <a16:creationId xmlns:a16="http://schemas.microsoft.com/office/drawing/2014/main" id="{720776EF-D953-4DA9-A9A6-9A685DF5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SPY</a:t>
            </a:r>
          </a:p>
        </p:txBody>
      </p:sp>
      <p:sp>
        <p:nvSpPr>
          <p:cNvPr id="13" name="asset-1-label">
            <a:extLst xmlns:a="http://schemas.openxmlformats.org/drawingml/2006/main">
              <a:ext uri="{FF2B5EF4-FFF2-40B4-BE49-F238E27FC236}">
                <a16:creationId xmlns:a16="http://schemas.microsoft.com/office/drawing/2014/main" id="{6266D730-1CE5-413C-B44F-8FF576D6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美國大型股 ETF</a:t>
            </a:r>
          </a:p>
        </p:txBody>
      </p:sp>
      <p:sp>
        <p:nvSpPr>
          <p:cNvPr id="14" name="asset-2-ticker">
            <a:extLst xmlns:a="http://schemas.openxmlformats.org/drawingml/2006/main">
              <a:ext uri="{FF2B5EF4-FFF2-40B4-BE49-F238E27FC236}">
                <a16:creationId xmlns:a16="http://schemas.microsoft.com/office/drawing/2014/main" id="{B7F7DF02-1163-4EC7-8A7B-CD6DE25A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BTC-USD</a:t>
            </a:r>
          </a:p>
        </p:txBody>
      </p:sp>
      <p:sp>
        <p:nvSpPr>
          <p:cNvPr id="15" name="asset-2-label">
            <a:extLst xmlns:a="http://schemas.openxmlformats.org/drawingml/2006/main">
              <a:ext uri="{FF2B5EF4-FFF2-40B4-BE49-F238E27FC236}">
                <a16:creationId xmlns:a16="http://schemas.microsoft.com/office/drawing/2014/main" id="{D08A4C41-D8F4-47E5-B336-D9241F2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比特幣</a:t>
            </a:r>
          </a:p>
        </p:txBody>
      </p:sp>
      <p:sp>
        <p:nvSpPr>
          <p:cNvPr id="16" name="asset-3-ticker">
            <a:extLst xmlns:a="http://schemas.openxmlformats.org/drawingml/2006/main">
              <a:ext uri="{FF2B5EF4-FFF2-40B4-BE49-F238E27FC236}">
                <a16:creationId xmlns:a16="http://schemas.microsoft.com/office/drawing/2014/main" id="{650469F0-3396-4AB2-82D0-22DF869D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GLD</a:t>
            </a:r>
          </a:p>
        </p:txBody>
      </p:sp>
      <p:sp>
        <p:nvSpPr>
          <p:cNvPr id="17" name="asset-3-label">
            <a:extLst xmlns:a="http://schemas.openxmlformats.org/drawingml/2006/main">
              <a:ext uri="{FF2B5EF4-FFF2-40B4-BE49-F238E27FC236}">
                <a16:creationId xmlns:a16="http://schemas.microsoft.com/office/drawing/2014/main" id="{8AC02589-3E98-4030-AD13-4D836CF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黃金 ETF</a:t>
            </a:r>
          </a:p>
        </p:txBody>
      </p:sp>
      <p:sp>
        <p:nvSpPr>
          <p:cNvPr id="18" name="scope-rule">
            <a:extLst xmlns:a="http://schemas.openxmlformats.org/drawingml/2006/main">
              <a:ext uri="{FF2B5EF4-FFF2-40B4-BE49-F238E27FC236}">
                <a16:creationId xmlns:a16="http://schemas.microsoft.com/office/drawing/2014/main" id="{C52372BF-CF59-465F-AC5A-2C5C4152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9" name="scope-caveat">
            <a:extLst xmlns:a="http://schemas.openxmlformats.org/drawingml/2006/main">
              <a:ext uri="{FF2B5EF4-FFF2-40B4-BE49-F238E27FC236}">
                <a16:creationId xmlns:a16="http://schemas.microsoft.com/office/drawing/2014/main" id="{63115F44-AF1A-4233-AD38-EB4CFB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每個標的都各自使用全部預算；這是平行比較，不是混合資產的投資組合。</a:t>
            </a:r>
          </a:p>
        </p:txBody>
      </p:sp>
    </p:spTree>
    <p:extLst>
      <p:ext uri="{BB962C8B-B14F-4D97-AF65-F5344CB8AC3E}">
        <p14:creationId xmlns:p14="http://schemas.microsoft.com/office/powerpoint/2010/main" val="1501717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028CCA-8CFA-4D45-AEAD-AADBF9FD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網站把 HTML 介面和 Python 計算分開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4000F37-AA07-4426-9255-4CBA247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35FA76-A0D8-4938-A0C3-3523D62D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03 / 10</a:t>
            </a:r>
          </a:p>
        </p:txBody>
      </p:sp>
      <p:sp>
        <p:nvSpPr>
          <p:cNvPr id="4" name="architecture-layer-0">
            <a:extLst xmlns:a="http://schemas.openxmlformats.org/drawingml/2006/main">
              <a:ext uri="{FF2B5EF4-FFF2-40B4-BE49-F238E27FC236}">
                <a16:creationId xmlns:a16="http://schemas.microsoft.com/office/drawing/2014/main" id="{17C7F22E-3B79-4DEF-9DEC-964F4941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324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4F1ED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5" name="architecture-title-0">
            <a:extLst xmlns:a="http://schemas.openxmlformats.org/drawingml/2006/main">
              <a:ext uri="{FF2B5EF4-FFF2-40B4-BE49-F238E27FC236}">
                <a16:creationId xmlns:a16="http://schemas.microsoft.com/office/drawing/2014/main" id="{F24C26AE-C7D3-4455-AAB0-05A5A9FD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瀏覽器表單</a:t>
            </a:r>
          </a:p>
        </p:txBody>
      </p:sp>
      <p:sp>
        <p:nvSpPr>
          <p:cNvPr id="6" name="architecture-file-0">
            <a:extLst xmlns:a="http://schemas.openxmlformats.org/drawingml/2006/main">
              <a:ext uri="{FF2B5EF4-FFF2-40B4-BE49-F238E27FC236}">
                <a16:creationId xmlns:a16="http://schemas.microsoft.com/office/drawing/2014/main" id="{AC323BF3-EC64-4C9B-B0BD-269A6333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HTML · JavaScript</a:t>
            </a:r>
          </a:p>
        </p:txBody>
      </p:sp>
      <p:sp>
        <p:nvSpPr>
          <p:cNvPr id="7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6660D419-983A-4AFA-A33F-EFEB9B84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設定條件並送出模擬</a:t>
            </a:r>
          </a:p>
        </p:txBody>
      </p:sp>
      <p:sp>
        <p:nvSpPr>
          <p:cNvPr id="8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E855835F-AD46-4EE0-B75C-9B0F95B5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architecture-layer-1">
            <a:extLst xmlns:a="http://schemas.openxmlformats.org/drawingml/2006/main">
              <a:ext uri="{FF2B5EF4-FFF2-40B4-BE49-F238E27FC236}">
                <a16:creationId xmlns:a16="http://schemas.microsoft.com/office/drawing/2014/main" id="{A5B29495-6B30-4E85-A18A-A48C8341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2324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0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5E87C6C4-A41D-4A24-AC79-BB4273C9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rPr>
              <a:t>Flask API</a:t>
            </a:r>
          </a:p>
        </p:txBody>
      </p:sp>
      <p:sp>
        <p:nvSpPr>
          <p:cNvPr id="11" name="architecture-file-1">
            <a:extLst xmlns:a="http://schemas.openxmlformats.org/drawingml/2006/main">
              <a:ext uri="{FF2B5EF4-FFF2-40B4-BE49-F238E27FC236}">
                <a16:creationId xmlns:a16="http://schemas.microsoft.com/office/drawing/2014/main" id="{3BBE5A2F-A9A1-4C5C-BFC6-3D916D67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4797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app.py</a:t>
            </a:r>
          </a:p>
        </p:txBody>
      </p:sp>
      <p:sp>
        <p:nvSpPr>
          <p:cNvPr id="12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122C5BCE-4301-4438-8B7F-F382DBED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147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接收 JSON 並驗證輸入</a:t>
            </a:r>
          </a:p>
        </p:txBody>
      </p:sp>
      <p:sp>
        <p:nvSpPr>
          <p:cNvPr id="13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ECDED312-0C03-425D-9C75-0EE18F71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architecture-layer-2">
            <a:extLst xmlns:a="http://schemas.openxmlformats.org/drawingml/2006/main">
              <a:ext uri="{FF2B5EF4-FFF2-40B4-BE49-F238E27FC236}">
                <a16:creationId xmlns:a16="http://schemas.microsoft.com/office/drawing/2014/main" id="{76518B96-2D10-467C-9907-7FC341D4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2324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6EED8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5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FBDE1C06-E77F-4313-AC04-10961F5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Python 計算</a:t>
            </a:r>
          </a:p>
        </p:txBody>
      </p:sp>
      <p:sp>
        <p:nvSpPr>
          <p:cNvPr id="16" name="architecture-file-2">
            <a:extLst xmlns:a="http://schemas.openxmlformats.org/drawingml/2006/main">
              <a:ext uri="{FF2B5EF4-FFF2-40B4-BE49-F238E27FC236}">
                <a16:creationId xmlns:a16="http://schemas.microsoft.com/office/drawing/2014/main" id="{E249E92D-D1A3-4669-992E-7524A33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4797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simulation.py · model.py</a:t>
            </a:r>
          </a:p>
        </p:txBody>
      </p:sp>
      <p:sp>
        <p:nvSpPr>
          <p:cNvPr id="17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15B44C4B-B96F-4021-AFF9-67B9FDA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下載行情、回測與選模</a:t>
            </a:r>
          </a:p>
        </p:txBody>
      </p:sp>
      <p:sp>
        <p:nvSpPr>
          <p:cNvPr id="1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A4887F7F-C5CA-4BCD-83E8-D835090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architecture-layer-3">
            <a:extLst xmlns:a="http://schemas.openxmlformats.org/drawingml/2006/main">
              <a:ext uri="{FF2B5EF4-FFF2-40B4-BE49-F238E27FC236}">
                <a16:creationId xmlns:a16="http://schemas.microsoft.com/office/drawing/2014/main" id="{71382306-9A69-420D-8956-97D59A6E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324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20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EA4B9A05-1435-4269-9783-C344D924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瀏覽器結果</a:t>
            </a:r>
          </a:p>
        </p:txBody>
      </p:sp>
      <p:sp>
        <p:nvSpPr>
          <p:cNvPr id="21" name="architecture-file-3">
            <a:extLst xmlns:a="http://schemas.openxmlformats.org/drawingml/2006/main">
              <a:ext uri="{FF2B5EF4-FFF2-40B4-BE49-F238E27FC236}">
                <a16:creationId xmlns:a16="http://schemas.microsoft.com/office/drawing/2014/main" id="{B5AD80DC-34A3-4915-8480-688E2839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4797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HTML · SVG</a:t>
            </a:r>
          </a:p>
        </p:txBody>
      </p:sp>
      <p:sp>
        <p:nvSpPr>
          <p:cNvPr id="22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A86A54FB-2D5B-4643-B0EC-1ED779E7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147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呈現指標、表格和走勢</a:t>
            </a:r>
          </a:p>
        </p:txBody>
      </p:sp>
      <p:sp>
        <p:nvSpPr>
          <p:cNvPr id="23" name="architecture-run">
            <a:extLst xmlns:a="http://schemas.openxmlformats.org/drawingml/2006/main">
              <a:ext uri="{FF2B5EF4-FFF2-40B4-BE49-F238E27FC236}">
                <a16:creationId xmlns:a16="http://schemas.microsoft.com/office/drawing/2014/main" id="{8D8CB286-7876-4351-B4E1-AA9F3BF7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在 PowerShell 執行 python app.py，再用瀏覽器開啟 http://127.0.0.1:5000。</a:t>
            </a:r>
          </a:p>
        </p:txBody>
      </p:sp>
      <p:sp>
        <p:nvSpPr>
          <p:cNvPr id="24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0B5B0D14-7FF6-4A71-9464-CB7AF78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行情和模型在本機 Python 處理；網頁以 JSON 接收結果並更新畫面。</a:t>
            </a:r>
          </a:p>
        </p:txBody>
      </p:sp>
    </p:spTree>
    <p:extLst>
      <p:ext uri="{BB962C8B-B14F-4D97-AF65-F5344CB8AC3E}">
        <p14:creationId xmlns:p14="http://schemas.microsoft.com/office/powerpoint/2010/main" val="138595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12B603-E244-4EBC-AF98-B89FE01C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不同市場日期先轉成同一計價單位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8A05291-9112-4F20-AEE0-BB32B730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8A389E-4DEB-4E62-B520-4D60B8A8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04 / 10</a:t>
            </a:r>
          </a:p>
        </p:txBody>
      </p:sp>
      <p:sp>
        <p:nvSpPr>
          <p:cNvPr id="4" name="data-step-0">
            <a:extLst xmlns:a="http://schemas.openxmlformats.org/drawingml/2006/main">
              <a:ext uri="{FF2B5EF4-FFF2-40B4-BE49-F238E27FC236}">
                <a16:creationId xmlns:a16="http://schemas.microsoft.com/office/drawing/2014/main" id="{88B125F9-65EE-4166-A435-ED7B1B1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5" name="data-step-0-number">
            <a:extLst xmlns:a="http://schemas.openxmlformats.org/drawingml/2006/main">
              <a:ext uri="{FF2B5EF4-FFF2-40B4-BE49-F238E27FC236}">
                <a16:creationId xmlns:a16="http://schemas.microsoft.com/office/drawing/2014/main" id="{0AF264FD-3BB1-400E-B59F-C1562069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data-step-0-title">
            <a:extLst xmlns:a="http://schemas.openxmlformats.org/drawingml/2006/main">
              <a:ext uri="{FF2B5EF4-FFF2-40B4-BE49-F238E27FC236}">
                <a16:creationId xmlns:a16="http://schemas.microsoft.com/office/drawing/2014/main" id="{1FA60DF4-0042-459A-988C-FA49D41E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下載價格</a:t>
            </a:r>
          </a:p>
        </p:txBody>
      </p:sp>
      <p:sp>
        <p:nvSpPr>
          <p:cNvPr id="7" name="data-step-0-body">
            <a:extLst xmlns:a="http://schemas.openxmlformats.org/drawingml/2006/main">
              <a:ext uri="{FF2B5EF4-FFF2-40B4-BE49-F238E27FC236}">
                <a16:creationId xmlns:a16="http://schemas.microsoft.com/office/drawing/2014/main" id="{0E8EC309-5185-4151-9CCD-55A2B3DC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Yahoo Finance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調整後收盤價</a:t>
            </a:r>
          </a:p>
        </p:txBody>
      </p:sp>
      <p:sp>
        <p:nvSpPr>
          <p:cNvPr id="8" name="data-arrow-0">
            <a:extLst xmlns:a="http://schemas.openxmlformats.org/drawingml/2006/main">
              <a:ext uri="{FF2B5EF4-FFF2-40B4-BE49-F238E27FC236}">
                <a16:creationId xmlns:a16="http://schemas.microsoft.com/office/drawing/2014/main" id="{026D9416-DEA3-418B-9A81-E58AC1A4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data-step-1">
            <a:extLst xmlns:a="http://schemas.openxmlformats.org/drawingml/2006/main">
              <a:ext uri="{FF2B5EF4-FFF2-40B4-BE49-F238E27FC236}">
                <a16:creationId xmlns:a16="http://schemas.microsoft.com/office/drawing/2014/main" id="{27679897-FA74-4BCF-89C7-AF41A3B5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6EED8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0" name="data-step-1-number">
            <a:extLst xmlns:a="http://schemas.openxmlformats.org/drawingml/2006/main">
              <a:ext uri="{FF2B5EF4-FFF2-40B4-BE49-F238E27FC236}">
                <a16:creationId xmlns:a16="http://schemas.microsoft.com/office/drawing/2014/main" id="{55EE8A78-C79B-47C3-A49E-6F4C6E51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data-step-1-title">
            <a:extLst xmlns:a="http://schemas.openxmlformats.org/drawingml/2006/main">
              <a:ext uri="{FF2B5EF4-FFF2-40B4-BE49-F238E27FC236}">
                <a16:creationId xmlns:a16="http://schemas.microsoft.com/office/drawing/2014/main" id="{7DB5711C-92DF-41E4-A87C-220D4EED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對齊匯率</a:t>
            </a:r>
          </a:p>
        </p:txBody>
      </p:sp>
      <p:sp>
        <p:nvSpPr>
          <p:cNvPr id="12" name="data-step-1-body">
            <a:extLst xmlns:a="http://schemas.openxmlformats.org/drawingml/2006/main">
              <a:ext uri="{FF2B5EF4-FFF2-40B4-BE49-F238E27FC236}">
                <a16:creationId xmlns:a16="http://schemas.microsoft.com/office/drawing/2014/main" id="{D72FBCED-DAB8-430D-8D7C-2F19DFCA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USD/TWD 匯率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依資產交易日換算</a:t>
            </a:r>
          </a:p>
        </p:txBody>
      </p:sp>
      <p:sp>
        <p:nvSpPr>
          <p:cNvPr id="13" name="data-arrow-1">
            <a:extLst xmlns:a="http://schemas.openxmlformats.org/drawingml/2006/main">
              <a:ext uri="{FF2B5EF4-FFF2-40B4-BE49-F238E27FC236}">
                <a16:creationId xmlns:a16="http://schemas.microsoft.com/office/drawing/2014/main" id="{5264B009-B842-4937-B891-F78AFE09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data-step-2">
            <a:extLst xmlns:a="http://schemas.openxmlformats.org/drawingml/2006/main">
              <a:ext uri="{FF2B5EF4-FFF2-40B4-BE49-F238E27FC236}">
                <a16:creationId xmlns:a16="http://schemas.microsoft.com/office/drawing/2014/main" id="{C0933392-1E02-4CC4-882A-D2F13E74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4F1ED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5" name="data-step-2-number">
            <a:extLst xmlns:a="http://schemas.openxmlformats.org/drawingml/2006/main">
              <a:ext uri="{FF2B5EF4-FFF2-40B4-BE49-F238E27FC236}">
                <a16:creationId xmlns:a16="http://schemas.microsoft.com/office/drawing/2014/main" id="{C13ABEC7-0064-4AF5-A1C5-8CDC2DBB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data-step-2-title">
            <a:extLst xmlns:a="http://schemas.openxmlformats.org/drawingml/2006/main">
              <a:ext uri="{FF2B5EF4-FFF2-40B4-BE49-F238E27FC236}">
                <a16:creationId xmlns:a16="http://schemas.microsoft.com/office/drawing/2014/main" id="{94A8A884-87D9-41D0-B499-B2E1ECD7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保留日曆</a:t>
            </a:r>
          </a:p>
        </p:txBody>
      </p:sp>
      <p:sp>
        <p:nvSpPr>
          <p:cNvPr id="17" name="data-step-2-body">
            <a:extLst xmlns:a="http://schemas.openxmlformats.org/drawingml/2006/main">
              <a:ext uri="{FF2B5EF4-FFF2-40B4-BE49-F238E27FC236}">
                <a16:creationId xmlns:a16="http://schemas.microsoft.com/office/drawing/2014/main" id="{2D0FB718-2B66-4B44-92AD-62878C7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不補週末價格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避免虛增零報酬</a:t>
            </a:r>
          </a:p>
        </p:txBody>
      </p:sp>
      <p:sp>
        <p:nvSpPr>
          <p:cNvPr id="18" name="data-arrow-2">
            <a:extLst xmlns:a="http://schemas.openxmlformats.org/drawingml/2006/main">
              <a:ext uri="{FF2B5EF4-FFF2-40B4-BE49-F238E27FC236}">
                <a16:creationId xmlns:a16="http://schemas.microsoft.com/office/drawing/2014/main" id="{4EBA3F6F-3293-495C-806D-0E016ED5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data-step-3">
            <a:extLst xmlns:a="http://schemas.openxmlformats.org/drawingml/2006/main">
              <a:ext uri="{FF2B5EF4-FFF2-40B4-BE49-F238E27FC236}">
                <a16:creationId xmlns:a16="http://schemas.microsoft.com/office/drawing/2014/main" id="{21E38281-9CDB-4644-A304-CDB5776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20" name="data-step-3-number">
            <a:extLst xmlns:a="http://schemas.openxmlformats.org/drawingml/2006/main">
              <a:ext uri="{FF2B5EF4-FFF2-40B4-BE49-F238E27FC236}">
                <a16:creationId xmlns:a16="http://schemas.microsoft.com/office/drawing/2014/main" id="{5D41C76D-9488-4B87-9096-8B7099CA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data-step-3-title">
            <a:extLst xmlns:a="http://schemas.openxmlformats.org/drawingml/2006/main">
              <a:ext uri="{FF2B5EF4-FFF2-40B4-BE49-F238E27FC236}">
                <a16:creationId xmlns:a16="http://schemas.microsoft.com/office/drawing/2014/main" id="{2FC19BDD-5C0C-4E44-8824-13FDE9D1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建立序列</a:t>
            </a:r>
          </a:p>
        </p:txBody>
      </p:sp>
      <p:sp>
        <p:nvSpPr>
          <p:cNvPr id="22" name="data-step-3-body">
            <a:extLst xmlns:a="http://schemas.openxmlformats.org/drawingml/2006/main">
              <a:ext uri="{FF2B5EF4-FFF2-40B4-BE49-F238E27FC236}">
                <a16:creationId xmlns:a16="http://schemas.microsoft.com/office/drawing/2014/main" id="{8C2E844C-B810-4658-B8C2-DDCBC89A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各資產的新台幣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有效價格觀測</a:t>
            </a:r>
          </a:p>
        </p:txBody>
      </p:sp>
      <p:sp>
        <p:nvSpPr>
          <p:cNvPr id="23" name="data-note">
            <a:extLst xmlns:a="http://schemas.openxmlformats.org/drawingml/2006/main">
              <a:ext uri="{FF2B5EF4-FFF2-40B4-BE49-F238E27FC236}">
                <a16:creationId xmlns:a16="http://schemas.microsoft.com/office/drawing/2014/main" id="{E4354F49-3F12-42BB-94D9-BE2777D5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0050 以新台幣計價；SPY、BTC 和 GLD 先按交易日匯率換算。</a:t>
            </a:r>
          </a:p>
        </p:txBody>
      </p:sp>
      <p:sp>
        <p:nvSpPr>
          <p:cNvPr id="24" name="data-limitation">
            <a:extLst xmlns:a="http://schemas.openxmlformats.org/drawingml/2006/main">
              <a:ext uri="{FF2B5EF4-FFF2-40B4-BE49-F238E27FC236}">
                <a16:creationId xmlns:a16="http://schemas.microsoft.com/office/drawing/2014/main" id="{C2B69D8A-7EF4-432D-9A19-58AD2F4E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匯率資料可能缺漏或修訂，海外資產換算結果會受匯率影響。</a:t>
            </a:r>
          </a:p>
        </p:txBody>
      </p:sp>
    </p:spTree>
    <p:extLst>
      <p:ext uri="{BB962C8B-B14F-4D97-AF65-F5344CB8AC3E}">
        <p14:creationId xmlns:p14="http://schemas.microsoft.com/office/powerpoint/2010/main" val="760085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1EB7C-08FF-41A3-9AB1-1297321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兩種投入方式使用同一筆總預算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29747E4-1C98-4F0A-B682-E04AB2A4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D9E349-EBCA-4CCB-8344-5A98034B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05 / 10</a:t>
            </a:r>
          </a:p>
        </p:txBody>
      </p:sp>
      <p:sp>
        <p:nvSpPr>
          <p:cNvPr id="4" name="lump-title">
            <a:extLst xmlns:a="http://schemas.openxmlformats.org/drawingml/2006/main">
              <a:ext uri="{FF2B5EF4-FFF2-40B4-BE49-F238E27FC236}">
                <a16:creationId xmlns:a16="http://schemas.microsoft.com/office/drawing/2014/main" id="{1A09CA73-ADF8-43C8-A91F-14BA769A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一次投入</a:t>
            </a:r>
          </a:p>
        </p:txBody>
      </p:sp>
      <p:sp>
        <p:nvSpPr>
          <p:cNvPr id="5" name="lump-formula">
            <a:extLst xmlns:a="http://schemas.openxmlformats.org/drawingml/2006/main">
              <a:ext uri="{FF2B5EF4-FFF2-40B4-BE49-F238E27FC236}">
                <a16:creationId xmlns:a16="http://schemas.microsoft.com/office/drawing/2014/main" id="{EC4A6656-8BAE-4E58-917F-7987DA59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Vₜ = P × Priceₜ / Price₀</a:t>
            </a:r>
          </a:p>
        </p:txBody>
      </p:sp>
      <p:sp>
        <p:nvSpPr>
          <p:cNvPr id="6" name="lump-detail">
            <a:extLst xmlns:a="http://schemas.openxmlformats.org/drawingml/2006/main">
              <a:ext uri="{FF2B5EF4-FFF2-40B4-BE49-F238E27FC236}">
                <a16:creationId xmlns:a16="http://schemas.microsoft.com/office/drawing/2014/main" id="{37C67DCD-4169-43C7-ACA9-ABA33D89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起點投入全部預算 P。</a:t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之後持有同一批單位，帳戶價值隨價格變動。</a:t>
            </a:r>
          </a:p>
        </p:txBody>
      </p:sp>
      <p:sp>
        <p:nvSpPr>
          <p:cNvPr id="7" name="investment-divider">
            <a:extLst xmlns:a="http://schemas.openxmlformats.org/drawingml/2006/main">
              <a:ext uri="{FF2B5EF4-FFF2-40B4-BE49-F238E27FC236}">
                <a16:creationId xmlns:a16="http://schemas.microsoft.com/office/drawing/2014/main" id="{C09686D1-0263-4E5D-951A-8D2CF34F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66875"/>
            <a:ext cx="0" cy="2676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8" name="dca-title">
            <a:extLst xmlns:a="http://schemas.openxmlformats.org/drawingml/2006/main">
              <a:ext uri="{FF2B5EF4-FFF2-40B4-BE49-F238E27FC236}">
                <a16:creationId xmlns:a16="http://schemas.microsoft.com/office/drawing/2014/main" id="{AB19DA21-0DD6-4954-A2A0-4C273674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定期定額</a:t>
            </a:r>
          </a:p>
        </p:txBody>
      </p:sp>
      <p:sp>
        <p:nvSpPr>
          <p:cNvPr id="9" name="dca-formula">
            <a:extLst xmlns:a="http://schemas.openxmlformats.org/drawingml/2006/main">
              <a:ext uri="{FF2B5EF4-FFF2-40B4-BE49-F238E27FC236}">
                <a16:creationId xmlns:a16="http://schemas.microsoft.com/office/drawing/2014/main" id="{BC15CB3C-9602-4F73-B4A5-4A5E9B2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52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Unitsₜ = Σ (P / n) ÷ Priceₖ</a:t>
            </a:r>
          </a:p>
        </p:txBody>
      </p:sp>
      <p:sp>
        <p:nvSpPr>
          <p:cNvPr id="10" name="dca-detail">
            <a:extLst xmlns:a="http://schemas.openxmlformats.org/drawingml/2006/main">
              <a:ext uri="{FF2B5EF4-FFF2-40B4-BE49-F238E27FC236}">
                <a16:creationId xmlns:a16="http://schemas.microsoft.com/office/drawing/2014/main" id="{39B716F9-C2DE-477E-8320-D376405E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467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把總預算 P 平均分成 n 份，</a:t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投入每月第一個有效交易日。</a:t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每次買入單位數會隨價格改變。</a:t>
            </a:r>
          </a:p>
        </p:txBody>
      </p:sp>
      <p:sp>
        <p:nvSpPr>
          <p:cNvPr id="11" name="budget-note-bg">
            <a:extLst xmlns:a="http://schemas.openxmlformats.org/drawingml/2006/main">
              <a:ext uri="{FF2B5EF4-FFF2-40B4-BE49-F238E27FC236}">
                <a16:creationId xmlns:a16="http://schemas.microsoft.com/office/drawing/2014/main" id="{076E2501-BEC7-4354-8874-1A5B5BE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61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4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dget-note">
            <a:extLst xmlns:a="http://schemas.openxmlformats.org/drawingml/2006/main">
              <a:ext uri="{FF2B5EF4-FFF2-40B4-BE49-F238E27FC236}">
                <a16:creationId xmlns:a16="http://schemas.microsoft.com/office/drawing/2014/main" id="{0A6D750A-9566-493D-83AD-CFFF3C50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149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P 代表回測期間的固定總預算。定期定額不會每月重複投入 P。</a:t>
            </a:r>
          </a:p>
        </p:txBody>
      </p:sp>
    </p:spTree>
    <p:extLst>
      <p:ext uri="{BB962C8B-B14F-4D97-AF65-F5344CB8AC3E}">
        <p14:creationId xmlns:p14="http://schemas.microsoft.com/office/powerpoint/2010/main" val="1885864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D7DCC9-0E09-4104-9A66-A1CDA9FB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報酬、波動和回撤回答不同問題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C71EC44-81FA-4E41-9641-9C96FAC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1CFA1B-3F94-4562-BB0C-8E9939D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06 / 10</a:t>
            </a:r>
          </a:p>
        </p:txBody>
      </p:sp>
      <p:sp>
        <p:nvSpPr>
          <p:cNvPr id="4" name="metric-0-label">
            <a:extLst xmlns:a="http://schemas.openxmlformats.org/drawingml/2006/main">
              <a:ext uri="{FF2B5EF4-FFF2-40B4-BE49-F238E27FC236}">
                <a16:creationId xmlns:a16="http://schemas.microsoft.com/office/drawing/2014/main" id="{ADD4EBBA-F6D7-414B-8EDD-088B16C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年化報酬</a:t>
            </a:r>
          </a:p>
        </p:txBody>
      </p:sp>
      <p:sp>
        <p:nvSpPr>
          <p:cNvPr id="5" name="metric-0-tag">
            <a:extLst xmlns:a="http://schemas.openxmlformats.org/drawingml/2006/main">
              <a:ext uri="{FF2B5EF4-FFF2-40B4-BE49-F238E27FC236}">
                <a16:creationId xmlns:a16="http://schemas.microsoft.com/office/drawing/2014/main" id="{EFBE41D1-D3EB-4CD9-BD7E-9846E351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XIRR</a:t>
            </a:r>
          </a:p>
        </p:txBody>
      </p:sp>
      <p:sp>
        <p:nvSpPr>
          <p:cNvPr id="6" name="metric-0-meaning">
            <a:extLst xmlns:a="http://schemas.openxmlformats.org/drawingml/2006/main">
              <a:ext uri="{FF2B5EF4-FFF2-40B4-BE49-F238E27FC236}">
                <a16:creationId xmlns:a16="http://schemas.microsoft.com/office/drawing/2014/main" id="{8837F016-5BC3-4780-B25F-331D416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335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考慮每筆投入日期與期末資產價值，衡量投資人的年化現金流報酬。</a:t>
            </a:r>
          </a:p>
        </p:txBody>
      </p:sp>
      <p:sp>
        <p:nvSpPr>
          <p:cNvPr id="7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C2FE7B26-8D09-4B3A-AF39-70D2D2CE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C6F9A47-7817-4F70-A2CB-80CBF07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rPr>
              <a:t>年化波動</a:t>
            </a:r>
          </a:p>
        </p:txBody>
      </p:sp>
      <p:sp>
        <p:nvSpPr>
          <p:cNvPr id="9" name="metric-1-tag">
            <a:extLst xmlns:a="http://schemas.openxmlformats.org/drawingml/2006/main">
              <a:ext uri="{FF2B5EF4-FFF2-40B4-BE49-F238E27FC236}">
                <a16:creationId xmlns:a16="http://schemas.microsoft.com/office/drawing/2014/main" id="{7367CB3C-CAC0-47A5-BFA6-7F1576C5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日報酬標準差 × √年觀測數</a:t>
            </a:r>
          </a:p>
        </p:txBody>
      </p:sp>
      <p:sp>
        <p:nvSpPr>
          <p:cNvPr id="10" name="metric-1-meaning">
            <a:extLst xmlns:a="http://schemas.openxmlformats.org/drawingml/2006/main">
              <a:ext uri="{FF2B5EF4-FFF2-40B4-BE49-F238E27FC236}">
                <a16:creationId xmlns:a16="http://schemas.microsoft.com/office/drawing/2014/main" id="{423AA1C7-F980-4A04-BE17-5E55BC55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337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ETF 按 252 日、BTC 按 365 日年化；波動不代表虧損機率。</a:t>
            </a:r>
          </a:p>
        </p:txBody>
      </p:sp>
      <p:sp>
        <p:nvSpPr>
          <p:cNvPr id="11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C9CEAC13-4699-4897-8299-1BFA8055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2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5B76DCA5-1256-4511-BAAD-98CF44C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最大回撤</a:t>
            </a:r>
          </a:p>
        </p:txBody>
      </p:sp>
      <p:sp>
        <p:nvSpPr>
          <p:cNvPr id="13" name="metric-2-tag">
            <a:extLst xmlns:a="http://schemas.openxmlformats.org/drawingml/2006/main">
              <a:ext uri="{FF2B5EF4-FFF2-40B4-BE49-F238E27FC236}">
                <a16:creationId xmlns:a16="http://schemas.microsoft.com/office/drawing/2014/main" id="{695B8BFD-0B3D-4796-B238-019AA3E9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報酬指數相對歷史高點</a:t>
            </a:r>
          </a:p>
        </p:txBody>
      </p:sp>
      <p:sp>
        <p:nvSpPr>
          <p:cNvPr id="14" name="metric-2-meaning">
            <a:extLst xmlns:a="http://schemas.openxmlformats.org/drawingml/2006/main">
              <a:ext uri="{FF2B5EF4-FFF2-40B4-BE49-F238E27FC236}">
                <a16:creationId xmlns:a16="http://schemas.microsoft.com/office/drawing/2014/main" id="{881A96F3-08F5-460D-8C02-DCA8AE27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338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衡量標的從前高到谷底的最大跌幅，不受後續投入金額抬高。</a:t>
            </a:r>
          </a:p>
        </p:txBody>
      </p:sp>
      <p:sp>
        <p:nvSpPr>
          <p:cNvPr id="15" name="risk-footnote">
            <a:extLst xmlns:a="http://schemas.openxmlformats.org/drawingml/2006/main">
              <a:ext uri="{FF2B5EF4-FFF2-40B4-BE49-F238E27FC236}">
                <a16:creationId xmlns:a16="http://schemas.microsoft.com/office/drawing/2014/main" id="{365C467E-3764-4AFA-9A7D-E195B08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指標描述歷史資料；它們不包含手續費、稅負、滑價或匯兌成本。</a:t>
            </a:r>
          </a:p>
        </p:txBody>
      </p:sp>
    </p:spTree>
    <p:extLst>
      <p:ext uri="{BB962C8B-B14F-4D97-AF65-F5344CB8AC3E}">
        <p14:creationId xmlns:p14="http://schemas.microsoft.com/office/powerpoint/2010/main" val="957160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9A3B6E-A405-456C-826B-98DC97D6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模型預測未來 H 期對數報酬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5320450-9E23-4886-9FBD-3EA5EE1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AF0FD6-9B7A-4DAD-9985-1554A9B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07 / 10</a:t>
            </a:r>
          </a:p>
        </p:txBody>
      </p:sp>
      <p:sp>
        <p:nvSpPr>
          <p:cNvPr id="4" name="feature-heading">
            <a:extLst xmlns:a="http://schemas.openxmlformats.org/drawingml/2006/main">
              <a:ext uri="{FF2B5EF4-FFF2-40B4-BE49-F238E27FC236}">
                <a16:creationId xmlns:a16="http://schemas.microsoft.com/office/drawing/2014/main" id="{DB8C9854-1C41-48D1-83C5-4BCFCA70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預測日可取得的價格特徵</a:t>
            </a:r>
          </a:p>
        </p:txBody>
      </p:sp>
      <p:sp>
        <p:nvSpPr>
          <p:cNvPr id="5" name="feature-0-name">
            <a:extLst xmlns:a="http://schemas.openxmlformats.org/drawingml/2006/main">
              <a:ext uri="{FF2B5EF4-FFF2-40B4-BE49-F238E27FC236}">
                <a16:creationId xmlns:a16="http://schemas.microsoft.com/office/drawing/2014/main" id="{09E4FFCD-E32E-4A42-B3BE-4908D517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動能</a:t>
            </a:r>
          </a:p>
        </p:txBody>
      </p:sp>
      <p:sp>
        <p:nvSpPr>
          <p:cNvPr id="6" name="feature-0-detail">
            <a:extLst xmlns:a="http://schemas.openxmlformats.org/drawingml/2006/main">
              <a:ext uri="{FF2B5EF4-FFF2-40B4-BE49-F238E27FC236}">
                <a16:creationId xmlns:a16="http://schemas.microsoft.com/office/drawing/2014/main" id="{8C49700D-61CD-4DA4-BDBB-22B00F84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66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5、20、60 期價格變化</a:t>
            </a:r>
          </a:p>
        </p:txBody>
      </p:sp>
      <p:sp>
        <p:nvSpPr>
          <p:cNvPr id="7" name="feature-1-name">
            <a:extLst xmlns:a="http://schemas.openxmlformats.org/drawingml/2006/main">
              <a:ext uri="{FF2B5EF4-FFF2-40B4-BE49-F238E27FC236}">
                <a16:creationId xmlns:a16="http://schemas.microsoft.com/office/drawing/2014/main" id="{696739D9-57C7-4CAF-A2A7-99A5671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波動</a:t>
            </a:r>
          </a:p>
        </p:txBody>
      </p:sp>
      <p:sp>
        <p:nvSpPr>
          <p:cNvPr id="8" name="feature-1-detail">
            <a:extLst xmlns:a="http://schemas.openxmlformats.org/drawingml/2006/main">
              <a:ext uri="{FF2B5EF4-FFF2-40B4-BE49-F238E27FC236}">
                <a16:creationId xmlns:a16="http://schemas.microsoft.com/office/drawing/2014/main" id="{CBEB4DEA-7E4C-452C-92D1-EEB8DCC0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20、60 期報酬標準差</a:t>
            </a:r>
          </a:p>
        </p:txBody>
      </p:sp>
      <p:sp>
        <p:nvSpPr>
          <p:cNvPr id="9" name="feature-2-name">
            <a:extLst xmlns:a="http://schemas.openxmlformats.org/drawingml/2006/main">
              <a:ext uri="{FF2B5EF4-FFF2-40B4-BE49-F238E27FC236}">
                <a16:creationId xmlns:a16="http://schemas.microsoft.com/office/drawing/2014/main" id="{FF8E2266-4856-4BF4-B039-F3C3EDC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趨勢</a:t>
            </a:r>
          </a:p>
        </p:txBody>
      </p:sp>
      <p:sp>
        <p:nvSpPr>
          <p:cNvPr id="10" name="feature-2-detail">
            <a:extLst xmlns:a="http://schemas.openxmlformats.org/drawingml/2006/main">
              <a:ext uri="{FF2B5EF4-FFF2-40B4-BE49-F238E27FC236}">
                <a16:creationId xmlns:a16="http://schemas.microsoft.com/office/drawing/2014/main" id="{84F7AA91-A5CB-456C-A857-895329B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52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價格相對 20、60 期均線</a:t>
            </a:r>
          </a:p>
        </p:txBody>
      </p:sp>
      <p:sp>
        <p:nvSpPr>
          <p:cNvPr id="11" name="model-divider">
            <a:extLst xmlns:a="http://schemas.openxmlformats.org/drawingml/2006/main">
              <a:ext uri="{FF2B5EF4-FFF2-40B4-BE49-F238E27FC236}">
                <a16:creationId xmlns:a16="http://schemas.microsoft.com/office/drawing/2014/main" id="{4F82CD86-2DD6-4ED7-8D58-371E1819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0" cy="279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2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97FAFF0D-5741-4551-968E-2A01465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預測目標</a:t>
            </a:r>
          </a:p>
        </p:txBody>
      </p:sp>
      <p:sp>
        <p:nvSpPr>
          <p:cNvPr id="13" name="target-formula">
            <a:extLst xmlns:a="http://schemas.openxmlformats.org/drawingml/2006/main">
              <a:ext uri="{FF2B5EF4-FFF2-40B4-BE49-F238E27FC236}">
                <a16:creationId xmlns:a16="http://schemas.microsoft.com/office/drawing/2014/main" id="{2225418D-60D9-4954-82C9-2D3A85C1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812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log(Priceₜ₊H / Priceₜ)</a:t>
            </a:r>
          </a:p>
        </p:txBody>
      </p:sp>
      <p:sp>
        <p:nvSpPr>
          <p:cNvPr id="14" name="target-copy">
            <a:extLst xmlns:a="http://schemas.openxmlformats.org/drawingml/2006/main">
              <a:ext uri="{FF2B5EF4-FFF2-40B4-BE49-F238E27FC236}">
                <a16:creationId xmlns:a16="http://schemas.microsoft.com/office/drawing/2014/main" id="{86F82B5C-3616-4A56-A918-816D50C2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57500"/>
            <a:ext cx="4191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以未來 H 個有效價格觀測的對數報酬訓練模型，再轉成一般報酬率顯示。</a:t>
            </a:r>
          </a:p>
        </p:txBody>
      </p:sp>
      <p:sp>
        <p:nvSpPr>
          <p:cNvPr id="15" name="candidate-bg">
            <a:extLst xmlns:a="http://schemas.openxmlformats.org/drawingml/2006/main">
              <a:ext uri="{FF2B5EF4-FFF2-40B4-BE49-F238E27FC236}">
                <a16:creationId xmlns:a16="http://schemas.microsoft.com/office/drawing/2014/main" id="{74E70D43-2091-4CD4-915F-2EF33FBF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108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ndidate-models">
            <a:extLst xmlns:a="http://schemas.openxmlformats.org/drawingml/2006/main">
              <a:ext uri="{FF2B5EF4-FFF2-40B4-BE49-F238E27FC236}">
                <a16:creationId xmlns:a16="http://schemas.microsoft.com/office/drawing/2014/main" id="{CF1EAB53-9F3A-47F2-8F67-672BDB2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候選模型　Random Forest（250 棵樹）　／　標準化 Ridge（α = 1）</a:t>
            </a:r>
          </a:p>
        </p:txBody>
      </p:sp>
    </p:spTree>
    <p:extLst>
      <p:ext uri="{BB962C8B-B14F-4D97-AF65-F5344CB8AC3E}">
        <p14:creationId xmlns:p14="http://schemas.microsoft.com/office/powerpoint/2010/main" val="1679893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4DE338-86D7-41F8-A5B7-550C19A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時間順序切分降低前視偏誤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9108431-21DE-42F4-9F95-FAF5278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E24808-1094-4B7F-B783-ECE5C83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08 / 10</a:t>
            </a:r>
          </a:p>
        </p:txBody>
      </p:sp>
      <p:sp>
        <p:nvSpPr>
          <p:cNvPr id="4" name="timeline-order">
            <a:extLst xmlns:a="http://schemas.openxmlformats.org/drawingml/2006/main">
              <a:ext uri="{FF2B5EF4-FFF2-40B4-BE49-F238E27FC236}">
                <a16:creationId xmlns:a16="http://schemas.microsoft.com/office/drawing/2014/main" id="{3724BF62-6160-40AE-909C-792C0F6A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較早資料</a:t>
            </a:r>
          </a:p>
        </p:txBody>
      </p:sp>
      <p:sp>
        <p:nvSpPr>
          <p:cNvPr id="5" name="timeline-later">
            <a:extLst xmlns:a="http://schemas.openxmlformats.org/drawingml/2006/main">
              <a:ext uri="{FF2B5EF4-FFF2-40B4-BE49-F238E27FC236}">
                <a16:creationId xmlns:a16="http://schemas.microsoft.com/office/drawing/2014/main" id="{C177EEDC-9657-4A49-B687-0713FBC9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764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較晚資料</a:t>
            </a:r>
          </a:p>
        </p:txBody>
      </p:sp>
      <p:sp>
        <p:nvSpPr>
          <p:cNvPr id="6" name="development-bar">
            <a:extLst xmlns:a="http://schemas.openxmlformats.org/drawingml/2006/main">
              <a:ext uri="{FF2B5EF4-FFF2-40B4-BE49-F238E27FC236}">
                <a16:creationId xmlns:a16="http://schemas.microsoft.com/office/drawing/2014/main" id="{7C00AC3F-F1B3-4947-9101-C86FA4FD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7715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6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velopment-label">
            <a:extLst xmlns:a="http://schemas.openxmlformats.org/drawingml/2006/main">
              <a:ext uri="{FF2B5EF4-FFF2-40B4-BE49-F238E27FC236}">
                <a16:creationId xmlns:a16="http://schemas.microsoft.com/office/drawing/2014/main" id="{3A58DC41-51D9-4250-BF52-441F1088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前 80% 開發區</a:t>
            </a:r>
          </a:p>
        </p:txBody>
      </p:sp>
      <p:sp>
        <p:nvSpPr>
          <p:cNvPr id="8" name="purge-bar">
            <a:extLst xmlns:a="http://schemas.openxmlformats.org/drawingml/2006/main">
              <a:ext uri="{FF2B5EF4-FFF2-40B4-BE49-F238E27FC236}">
                <a16:creationId xmlns:a16="http://schemas.microsoft.com/office/drawing/2014/main" id="{50A407D0-35ED-48D8-AA8F-731D4178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oldout-bar">
            <a:extLst xmlns:a="http://schemas.openxmlformats.org/drawingml/2006/main">
              <a:ext uri="{FF2B5EF4-FFF2-40B4-BE49-F238E27FC236}">
                <a16:creationId xmlns:a16="http://schemas.microsoft.com/office/drawing/2014/main" id="{5913240F-E9F0-459A-99ED-6050BCF3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77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oldout-label">
            <a:extLst xmlns:a="http://schemas.openxmlformats.org/drawingml/2006/main">
              <a:ext uri="{FF2B5EF4-FFF2-40B4-BE49-F238E27FC236}">
                <a16:creationId xmlns:a16="http://schemas.microsoft.com/office/drawing/2014/main" id="{79AC523C-86AD-44DC-B1AE-08895A0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907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 20% 測試資料</a:t>
            </a:r>
          </a:p>
        </p:txBody>
      </p:sp>
      <p:sp>
        <p:nvSpPr>
          <p:cNvPr id="11" name="purge-label">
            <a:extLst xmlns:a="http://schemas.openxmlformats.org/drawingml/2006/main">
              <a:ext uri="{FF2B5EF4-FFF2-40B4-BE49-F238E27FC236}">
                <a16:creationId xmlns:a16="http://schemas.microsoft.com/office/drawing/2014/main" id="{DB35F023-9CA4-4373-A498-C9704DE1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H 期隔離</a:t>
            </a:r>
          </a:p>
        </p:txBody>
      </p:sp>
      <p:sp>
        <p:nvSpPr>
          <p:cNvPr id="12" name="inner-validation-title">
            <a:extLst xmlns:a="http://schemas.openxmlformats.org/drawingml/2006/main">
              <a:ext uri="{FF2B5EF4-FFF2-40B4-BE49-F238E27FC236}">
                <a16:creationId xmlns:a16="http://schemas.microsoft.com/office/drawing/2014/main" id="{EAD27565-C42A-406D-A747-F7DB80AE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開發資料內的選模</a:t>
            </a:r>
          </a:p>
        </p:txBody>
      </p:sp>
      <p:sp>
        <p:nvSpPr>
          <p:cNvPr id="13" name="inner-validation-copy">
            <a:extLst xmlns:a="http://schemas.openxmlformats.org/drawingml/2006/main">
              <a:ext uri="{FF2B5EF4-FFF2-40B4-BE49-F238E27FC236}">
                <a16:creationId xmlns:a16="http://schemas.microsoft.com/office/drawing/2014/main" id="{044521CF-1A9E-4197-875B-8DA5708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6429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依時間順序驗證 Random Forest 與 Ridge，以 MAE 較低者作為入選模型。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訓練區間末端再隔離 H 筆，減少前向報酬標籤跨界重疊。</a:t>
            </a:r>
          </a:p>
        </p:txBody>
      </p:sp>
      <p:sp>
        <p:nvSpPr>
          <p:cNvPr id="14" name="baseline-rule">
            <a:extLst xmlns:a="http://schemas.openxmlformats.org/drawingml/2006/main">
              <a:ext uri="{FF2B5EF4-FFF2-40B4-BE49-F238E27FC236}">
                <a16:creationId xmlns:a16="http://schemas.microsoft.com/office/drawing/2014/main" id="{97F83A46-FBEE-49B8-8959-CE012A7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5" name="baseline-title">
            <a:extLst xmlns:a="http://schemas.openxmlformats.org/drawingml/2006/main">
              <a:ext uri="{FF2B5EF4-FFF2-40B4-BE49-F238E27FC236}">
                <a16:creationId xmlns:a16="http://schemas.microsoft.com/office/drawing/2014/main" id="{A36638F2-EB5D-4914-B4DD-BFB5F742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保留測試資料</a:t>
            </a:r>
          </a:p>
        </p:txBody>
      </p:sp>
      <p:sp>
        <p:nvSpPr>
          <p:cNvPr id="16" name="baseline-copy">
            <a:extLst xmlns:a="http://schemas.openxmlformats.org/drawingml/2006/main">
              <a:ext uri="{FF2B5EF4-FFF2-40B4-BE49-F238E27FC236}">
                <a16:creationId xmlns:a16="http://schemas.microsoft.com/office/drawing/2014/main" id="{7FAED952-64B5-4440-8D18-EA4F2958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71975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最後比較 MAE、RMSE，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並對照零報酬與訓練平均基準。</a:t>
            </a:r>
          </a:p>
        </p:txBody>
      </p:sp>
      <p:sp>
        <p:nvSpPr>
          <p:cNvPr id="17" name="timeline-scale-note">
            <a:extLst xmlns:a="http://schemas.openxmlformats.org/drawingml/2006/main">
              <a:ext uri="{FF2B5EF4-FFF2-40B4-BE49-F238E27FC236}">
                <a16:creationId xmlns:a16="http://schemas.microsoft.com/office/drawing/2014/main" id="{E059F8C0-D050-43EC-9580-9060F020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區段寬度為示意；H 期隔離長度會隨預測期間改變。</a:t>
            </a:r>
          </a:p>
        </p:txBody>
      </p:sp>
    </p:spTree>
    <p:extLst>
      <p:ext uri="{BB962C8B-B14F-4D97-AF65-F5344CB8AC3E}">
        <p14:creationId xmlns:p14="http://schemas.microsoft.com/office/powerpoint/2010/main" val="367708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E3C1EE-8F65-4209-80A0-6C80FB14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模型情境範圍來自過去測試期的報酬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7AE27A9-2D44-4FE0-B127-9FED85BC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797D9C-6304-45EB-AF6E-CC2146D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09 / 10</a:t>
            </a:r>
          </a:p>
        </p:txBody>
      </p:sp>
      <p:sp>
        <p:nvSpPr>
          <p:cNvPr id="4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655877C-A5B2-45DE-8DD7-892ECC1A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97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畫面同時呈現三種資訊</a:t>
            </a:r>
          </a:p>
        </p:txBody>
      </p:sp>
      <p:sp>
        <p:nvSpPr>
          <p:cNvPr id="5" name="output-forecast-title">
            <a:extLst xmlns:a="http://schemas.openxmlformats.org/drawingml/2006/main">
              <a:ext uri="{FF2B5EF4-FFF2-40B4-BE49-F238E27FC236}">
                <a16:creationId xmlns:a16="http://schemas.microsoft.com/office/drawing/2014/main" id="{4F24CE26-D01B-411E-A0A1-89D9C93F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中央估算</a:t>
            </a:r>
          </a:p>
        </p:txBody>
      </p:sp>
      <p:sp>
        <p:nvSpPr>
          <p:cNvPr id="6" name="output-forecast-copy">
            <a:extLst xmlns:a="http://schemas.openxmlformats.org/drawingml/2006/main">
              <a:ext uri="{FF2B5EF4-FFF2-40B4-BE49-F238E27FC236}">
                <a16:creationId xmlns:a16="http://schemas.microsoft.com/office/drawing/2014/main" id="{CDB03D77-D086-446F-8F75-D89CC94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入選模型對最新價格特徵的 H 期報酬預測。</a:t>
            </a:r>
          </a:p>
        </p:txBody>
      </p:sp>
      <p:sp>
        <p:nvSpPr>
          <p:cNvPr id="7" name="output-divide-one">
            <a:extLst xmlns:a="http://schemas.openxmlformats.org/drawingml/2006/main">
              <a:ext uri="{FF2B5EF4-FFF2-40B4-BE49-F238E27FC236}">
                <a16:creationId xmlns:a16="http://schemas.microsoft.com/office/drawing/2014/main" id="{22A570A6-3A6F-480B-8DE5-6E9E3D8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7170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8" name="output-range-title">
            <a:extLst xmlns:a="http://schemas.openxmlformats.org/drawingml/2006/main">
              <a:ext uri="{FF2B5EF4-FFF2-40B4-BE49-F238E27FC236}">
                <a16:creationId xmlns:a16="http://schemas.microsoft.com/office/drawing/2014/main" id="{3E085CD2-6714-413D-BCC9-E33AB516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歷史情境</a:t>
            </a:r>
          </a:p>
        </p:txBody>
      </p:sp>
      <p:sp>
        <p:nvSpPr>
          <p:cNvPr id="9" name="output-range-copy">
            <a:extLst xmlns:a="http://schemas.openxmlformats.org/drawingml/2006/main">
              <a:ext uri="{FF2B5EF4-FFF2-40B4-BE49-F238E27FC236}">
                <a16:creationId xmlns:a16="http://schemas.microsoft.com/office/drawing/2014/main" id="{D2D5D945-DBB2-4798-B6EF-C092E402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保留測試期實際報酬的第 10 至第 90 百分位數。</a:t>
            </a:r>
          </a:p>
        </p:txBody>
      </p:sp>
      <p:sp>
        <p:nvSpPr>
          <p:cNvPr id="10" name="output-rule">
            <a:extLst xmlns:a="http://schemas.openxmlformats.org/drawingml/2006/main">
              <a:ext uri="{FF2B5EF4-FFF2-40B4-BE49-F238E27FC236}">
                <a16:creationId xmlns:a16="http://schemas.microsoft.com/office/drawing/2014/main" id="{43C1E372-CEA7-4798-AD12-32C52073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1" name="output-error-title">
            <a:extLst xmlns:a="http://schemas.openxmlformats.org/drawingml/2006/main">
              <a:ext uri="{FF2B5EF4-FFF2-40B4-BE49-F238E27FC236}">
                <a16:creationId xmlns:a16="http://schemas.microsoft.com/office/drawing/2014/main" id="{DE3F2BF4-ED1C-4AB1-8820-E3C9FF4C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rPr>
              <a:t>測試誤差</a:t>
            </a:r>
          </a:p>
        </p:txBody>
      </p:sp>
      <p:sp>
        <p:nvSpPr>
          <p:cNvPr id="12" name="output-error-copy">
            <a:extLst xmlns:a="http://schemas.openxmlformats.org/drawingml/2006/main">
              <a:ext uri="{FF2B5EF4-FFF2-40B4-BE49-F238E27FC236}">
                <a16:creationId xmlns:a16="http://schemas.microsoft.com/office/drawing/2014/main" id="{24B52D1F-39A4-4ECD-A78B-9067B5CE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模型 MAE、RMSE 與簡單基準比較模型在保留資料上的誤差。</a:t>
            </a:r>
          </a:p>
        </p:txBody>
      </p:sp>
      <p:sp>
        <p:nvSpPr>
          <p:cNvPr id="13" name="range-caveat-bg">
            <a:extLst xmlns:a="http://schemas.openxmlformats.org/drawingml/2006/main">
              <a:ext uri="{FF2B5EF4-FFF2-40B4-BE49-F238E27FC236}">
                <a16:creationId xmlns:a16="http://schemas.microsoft.com/office/drawing/2014/main" id="{F58B0114-CDA5-4E3A-B79D-781AD542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6108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6E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nge-caveat">
            <a:extLst xmlns:a="http://schemas.openxmlformats.org/drawingml/2006/main">
              <a:ext uri="{FF2B5EF4-FFF2-40B4-BE49-F238E27FC236}">
                <a16:creationId xmlns:a16="http://schemas.microsoft.com/office/drawing/2014/main" id="{49AD9CDB-BA7E-40A7-89FC-AABBF498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歷史分位數不是信賴區間，也不代表未來報酬會落在範圍內。</a:t>
            </a:r>
          </a:p>
        </p:txBody>
      </p:sp>
    </p:spTree>
    <p:extLst>
      <p:ext uri="{BB962C8B-B14F-4D97-AF65-F5344CB8AC3E}">
        <p14:creationId xmlns:p14="http://schemas.microsoft.com/office/powerpoint/2010/main" val="1802649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B17276-C8B2-4C8A-A6CA-7F129CE0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目前適合比較方法，還不能替投資人選標的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4B7B3C-23C7-4C38-A2B7-9DB5E618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210103-90D9-4427-9D2D-08EA474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10 / 10</a:t>
            </a:r>
          </a:p>
        </p:txBody>
      </p:sp>
      <p:sp>
        <p:nvSpPr>
          <p:cNvPr id="4" name="can-answer-title">
            <a:extLst xmlns:a="http://schemas.openxmlformats.org/drawingml/2006/main">
              <a:ext uri="{FF2B5EF4-FFF2-40B4-BE49-F238E27FC236}">
                <a16:creationId xmlns:a16="http://schemas.microsoft.com/office/drawing/2014/main" id="{D0973A89-090D-497B-994B-B6E36141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系統可以呈現</a:t>
            </a:r>
          </a:p>
        </p:txBody>
      </p:sp>
      <p:sp>
        <p:nvSpPr>
          <p:cNvPr id="5" name="can-answer-copy">
            <a:extLst xmlns:a="http://schemas.openxmlformats.org/drawingml/2006/main">
              <a:ext uri="{FF2B5EF4-FFF2-40B4-BE49-F238E27FC236}">
                <a16:creationId xmlns:a16="http://schemas.microsoft.com/office/drawing/2014/main" id="{9146636E-C958-4D2D-B125-9907B8B8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不同資產的歷史報酬與風險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兩種投入方式的歷史差異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模型與簡單基準的測試誤差</a:t>
            </a:r>
          </a:p>
        </p:txBody>
      </p:sp>
      <p:sp>
        <p:nvSpPr>
          <p:cNvPr id="6" name="conclusion-divider">
            <a:extLst xmlns:a="http://schemas.openxmlformats.org/drawingml/2006/main">
              <a:ext uri="{FF2B5EF4-FFF2-40B4-BE49-F238E27FC236}">
                <a16:creationId xmlns:a16="http://schemas.microsoft.com/office/drawing/2014/main" id="{7C8B995D-A4C4-4977-8395-A2744FEF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7" name="not-answer-title">
            <a:extLst xmlns:a="http://schemas.openxmlformats.org/drawingml/2006/main">
              <a:ext uri="{FF2B5EF4-FFF2-40B4-BE49-F238E27FC236}">
                <a16:creationId xmlns:a16="http://schemas.microsoft.com/office/drawing/2014/main" id="{AC5D0152-4F43-493C-ABDE-D01B00F6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85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目前尚未估算</a:t>
            </a:r>
          </a:p>
        </p:txBody>
      </p:sp>
      <p:sp>
        <p:nvSpPr>
          <p:cNvPr id="8" name="not-answer-copy">
            <a:extLst xmlns:a="http://schemas.openxmlformats.org/drawingml/2006/main">
              <a:ext uri="{FF2B5EF4-FFF2-40B4-BE49-F238E27FC236}">
                <a16:creationId xmlns:a16="http://schemas.microsoft.com/office/drawing/2014/main" id="{947E97DD-8157-45E7-8297-108F6379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扣除費用後的實際投資結果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不同資產的最佳配置比例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模型能否長期勝過市場基準</a:t>
            </a:r>
          </a:p>
        </p:txBody>
      </p:sp>
      <p:sp>
        <p:nvSpPr>
          <p:cNvPr id="9" name="conclusion-bg">
            <a:extLst xmlns:a="http://schemas.openxmlformats.org/drawingml/2006/main">
              <a:ext uri="{FF2B5EF4-FFF2-40B4-BE49-F238E27FC236}">
                <a16:creationId xmlns:a16="http://schemas.microsoft.com/office/drawing/2014/main" id="{C720439D-0AE9-4EA8-9DDC-E5586460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6108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2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5A4D2110-0B1C-4043-BF7D-4CA8D91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1003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使用前先檢視資料區間、基準誤差和模型限制。歷史績效不代表未來結果。</a:t>
            </a:r>
          </a:p>
        </p:txBody>
      </p:sp>
    </p:spTree>
    <p:extLst>
      <p:ext uri="{BB962C8B-B14F-4D97-AF65-F5344CB8AC3E}">
        <p14:creationId xmlns:p14="http://schemas.microsoft.com/office/powerpoint/2010/main" val="40124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2026-10-18T17:17:56.0190000Z</dcterms:created>
  <dcterms:modified xsi:type="dcterms:W3CDTF">2026-10-18T17:17:56.0190000Z</dcterms:modified>
</coreProperties>
</file>